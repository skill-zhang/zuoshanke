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46634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 Light"/>
              </a:rPr>
              <a:t>坐山客 vs 国内外 AI Agent 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B81C"/>
                </a:solidFill>
                <a:latin typeface="Calibri Light"/>
              </a:rPr>
              <a:t>深度对比分析报告 — 能力、架构、定位与差距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6A0BE"/>
                </a:solidFill>
                <a:latin typeface="Calibri"/>
              </a:rPr>
              <a:t>坐山客 AI 工作伙伴  |  2026年05月29日</a:t>
            </a:r>
          </a:p>
        </p:txBody>
      </p:sp>
      <p:sp>
        <p:nvSpPr>
          <p:cNvPr id="8" name="Diamond 7"/>
          <p:cNvSpPr/>
          <p:nvPr/>
        </p:nvSpPr>
        <p:spPr>
          <a:xfrm>
            <a:off x="10515600" y="5303520"/>
            <a:ext cx="1097280" cy="1097280"/>
          </a:xfrm>
          <a:prstGeom prst="diamond">
            <a:avLst/>
          </a:prstGeom>
          <a:solidFill>
            <a:srgbClr val="1E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038"/>
                </a:solidFill>
                <a:latin typeface="Calibri Light"/>
              </a:rPr>
              <a:t>报告背景与目的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97480" cy="182880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34439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2038"/>
                </a:solidFill>
                <a:latin typeface="Calibri"/>
              </a:rPr>
              <a:t>行业背景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0020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AI Agent 领域正处于爆发期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国内外涌现大量平台与框架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097280"/>
            <a:ext cx="2697480" cy="182880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0440" y="1280160"/>
            <a:ext cx="457200" cy="457200"/>
          </a:xfrm>
          <a:prstGeom prst="ellipse">
            <a:avLst/>
          </a:prstGeom>
          <a:solidFill>
            <a:srgbClr val="82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234439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2038"/>
                </a:solidFill>
                <a:latin typeface="Calibri"/>
              </a:rPr>
              <a:t>覆盖范围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60020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国内: Coze/百炼/千帆/AutoGLM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国际: OpenAI/Anthropic/Google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2697480" cy="182880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280160"/>
            <a:ext cx="457200" cy="457200"/>
          </a:xfrm>
          <a:prstGeom prst="ellipse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1234439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2038"/>
                </a:solidFill>
                <a:latin typeface="Calibri"/>
              </a:rPr>
              <a:t>分析维度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160020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能力对比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架构差异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定位分析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差距评估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097280"/>
            <a:ext cx="2697480" cy="182880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81159" y="128016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1234439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2038"/>
                </a:solidFill>
                <a:latin typeface="Calibri"/>
              </a:rPr>
              <a:t>数据来源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9" y="160020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官方文档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产品说明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GitHub 仓库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技术博客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2004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282D41"/>
                </a:solidFill>
                <a:latin typeface="Calibri"/>
              </a:rPr>
              <a:t>本报告目标</a:t>
            </a:r>
            <a:r>
              <a:rPr sz="1300" b="0">
                <a:solidFill>
                  <a:srgbClr val="282D41"/>
                </a:solidFill>
                <a:latin typeface="Calibri"/>
              </a:rPr>
              <a:t>▸ : 从能力、架构、定位三个维度，客观对比坐山客与各平台的差异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282D41"/>
                </a:solidFill>
                <a:latin typeface="Calibri"/>
              </a:rPr>
              <a:t>核心问题</a:t>
            </a:r>
            <a:r>
              <a:rPr sz="1300" b="0">
                <a:solidFill>
                  <a:srgbClr val="282D41"/>
                </a:solidFill>
                <a:latin typeface="Calibri"/>
              </a:rPr>
              <a:t>▸ : 坐山客与国内外平台相比，优势在哪？差距在哪？定位有何不同？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282D41"/>
                </a:solidFill>
                <a:latin typeface="Calibri"/>
              </a:rPr>
              <a:t>OpenClaw</a:t>
            </a:r>
            <a:r>
              <a:rPr sz="1300" b="0">
                <a:solidFill>
                  <a:srgbClr val="282D41"/>
                </a:solidFill>
                <a:latin typeface="Calibri"/>
              </a:rPr>
              <a:t>▸ : 375k Stars 的开源个人 AI 助手，Gateway 网关架构，20+ 渠道接入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 b="1">
                <a:solidFill>
                  <a:srgbClr val="00C9A7"/>
                </a:solidFill>
                <a:latin typeface="Calibri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国内 AI Agent 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6A0BE"/>
                </a:solidFill>
                <a:latin typeface="Calibri"/>
              </a:rPr>
              <a:t>Coze / 阿里百炼 / 百度千帆 / 智谱 AutoGLM / OpenClaw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038"/>
                </a:solidFill>
                <a:latin typeface="Calibri Light"/>
              </a:rPr>
              <a:t>国内主流 AI Agent 平台一览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1A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厂商</a:t>
                      </a:r>
                    </a:p>
                  </a:txBody>
                  <a:tcPr>
                    <a:solidFill>
                      <a:srgbClr val="1A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1A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核心卖点</a:t>
                      </a:r>
                    </a:p>
                  </a:txBody>
                  <a:tcPr>
                    <a:solidFill>
                      <a:srgbClr val="1A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开源</a:t>
                      </a:r>
                    </a:p>
                  </a:txBody>
                  <a:tcPr>
                    <a:solidFill>
                      <a:srgbClr val="1A203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Coze（扣子）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字节跳动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零代码 AI 智能体平台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可视化拖拽 + 插件市场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 Apache 2.0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阿里百炼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阿里巴巴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一站式 MaaS 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千问全家桶 + 模型微调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千帆 AppBuilder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百度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企业级 Agent 平台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百度 AI 生态 + 云服务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AutoGLM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智谱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端侧操控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手机操控 + 深度搜索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 部分开源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OpenClaw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开源社区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个人 AI 助手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375k Stars，Gateway 架构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 开源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038"/>
                </a:solidFill>
                <a:latin typeface="Calibri Light"/>
              </a:rPr>
              <a:t>Coze（扣子）vs 坐山客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5303520" cy="548640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05156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051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038"/>
                </a:solidFill>
                <a:latin typeface="Calibri"/>
              </a:rPr>
              <a:t>Coze — 平台思维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可视化拖拽搭建，零代码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静态 DAG 工作流编排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简单 KV 记忆存储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插件市场，通用工具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SaaS + 开源（Apache 2.0）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数据在字节云端</a:t>
            </a:r>
          </a:p>
        </p:txBody>
      </p:sp>
      <p:sp>
        <p:nvSpPr>
          <p:cNvPr id="10" name="Oval 9"/>
          <p:cNvSpPr/>
          <p:nvPr/>
        </p:nvSpPr>
        <p:spPr>
          <a:xfrm>
            <a:off x="5577840" y="2743200"/>
            <a:ext cx="731520" cy="731520"/>
          </a:xfrm>
          <a:prstGeom prst="ellipse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7432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2038"/>
                </a:solidFill>
                <a:latin typeface="Calibri"/>
              </a:rPr>
              <a:t>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914400"/>
            <a:ext cx="5303520" cy="548640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1051560"/>
            <a:ext cx="365760" cy="3657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051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051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038"/>
                </a:solidFill>
                <a:latin typeface="Calibri"/>
              </a:rPr>
              <a:t>坐山客 — 伙伴思维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5087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纯对话交互，无需搭建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动态 Supervisor/Worker 协作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三层记忆体系（Identity+长期+上下文）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原生深度工具链（拨测/代码执行/系统操作）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完全本地，数据不出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Thinking Map + Action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038"/>
                </a:solidFill>
                <a:latin typeface="Calibri Light"/>
              </a:rPr>
              <a:t>阿里百炼 vs 坐山客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5303520" cy="548640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05156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051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038"/>
                </a:solidFill>
                <a:latin typeface="Calibri"/>
              </a:rPr>
              <a:t>阿里百炼 — MaaS 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千问全系列 + 第三方模型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可视化流程编排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SFT/CPT/DPO 模型微调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RAG 知识库接入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按量付费，有免费额度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数据在阿里云</a:t>
            </a:r>
          </a:p>
        </p:txBody>
      </p:sp>
      <p:sp>
        <p:nvSpPr>
          <p:cNvPr id="10" name="Oval 9"/>
          <p:cNvSpPr/>
          <p:nvPr/>
        </p:nvSpPr>
        <p:spPr>
          <a:xfrm>
            <a:off x="5577840" y="2743200"/>
            <a:ext cx="731520" cy="731520"/>
          </a:xfrm>
          <a:prstGeom prst="ellipse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7432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2038"/>
                </a:solidFill>
                <a:latin typeface="Calibri"/>
              </a:rPr>
              <a:t>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914400"/>
            <a:ext cx="5303520" cy="548640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1051560"/>
            <a:ext cx="365760" cy="3657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051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051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038"/>
                </a:solidFill>
                <a:latin typeface="Calibri"/>
              </a:rPr>
              <a:t>坐山客 — 私有伙伴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5087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模型无关，可接任意模型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代码级深度定制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不依赖特定模型，无需微调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三层记忆体系（更精细）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完全免费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数据完全本地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038"/>
                </a:solidFill>
                <a:latin typeface="Calibri Light"/>
              </a:rPr>
              <a:t>OpenClaw vs 坐山客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5303520" cy="548640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05156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051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038"/>
                </a:solidFill>
                <a:latin typeface="Calibri"/>
              </a:rPr>
              <a:t>OpenClaw — 开源个人助手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375k GitHub Stars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Gateway 网关架构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20+ 渠道接入（Discord/Telegram等）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多模型支持（OpenAI/Claude/Gemini）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Docker 部署，社区驱动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通用型个人 AI 助手</a:t>
            </a:r>
          </a:p>
        </p:txBody>
      </p:sp>
      <p:sp>
        <p:nvSpPr>
          <p:cNvPr id="10" name="Oval 9"/>
          <p:cNvSpPr/>
          <p:nvPr/>
        </p:nvSpPr>
        <p:spPr>
          <a:xfrm>
            <a:off x="5577840" y="2743200"/>
            <a:ext cx="731520" cy="731520"/>
          </a:xfrm>
          <a:prstGeom prst="ellipse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7432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2038"/>
                </a:solidFill>
                <a:latin typeface="Calibri"/>
              </a:rPr>
              <a:t>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914400"/>
            <a:ext cx="5303520" cy="548640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1051560"/>
            <a:ext cx="365760" cy="3657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051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051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038"/>
                </a:solidFill>
                <a:latin typeface="Calibri"/>
              </a:rPr>
              <a:t>坐山客 — 深度工作伙伴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5087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场景化隔离上下文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Agent Loop + 多 Agent 协作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Thinking Map 发散收敛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Action Map 自省进度追踪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浏览器拨测原生集成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三层记忆体系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 b="1">
                <a:solidFill>
                  <a:srgbClr val="00C9A7"/>
                </a:solidFill>
                <a:latin typeface="Calibri Ligh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国际 AI Agent 巨头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6A0BE"/>
                </a:solidFill>
                <a:latin typeface="Calibri"/>
              </a:rPr>
              <a:t>OpenAI Agents SDK / Anthropic Claude / Google Gemini + ADK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038"/>
                </a:solidFill>
                <a:latin typeface="Calibri Light"/>
              </a:rPr>
              <a:t>OpenAI Agents SDK vs 坐山客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5303520" cy="548640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05156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051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038"/>
                </a:solidFill>
                <a:latin typeface="Calibri"/>
              </a:rPr>
              <a:t>OpenAI 有，坐山客没有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Sandbox Agent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隔离沙箱执行代码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Guardrails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输入输出校验链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Tracing 闭环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追踪→评估→微调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Realtime Voice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实时语音 Agent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MCP 协议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生态兼容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Handoffs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Agent 间交接机制</a:t>
            </a:r>
          </a:p>
        </p:txBody>
      </p:sp>
      <p:sp>
        <p:nvSpPr>
          <p:cNvPr id="10" name="Oval 9"/>
          <p:cNvSpPr/>
          <p:nvPr/>
        </p:nvSpPr>
        <p:spPr>
          <a:xfrm>
            <a:off x="5577840" y="2743200"/>
            <a:ext cx="731520" cy="731520"/>
          </a:xfrm>
          <a:prstGeom prst="ellipse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7432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2038"/>
                </a:solidFill>
                <a:latin typeface="Calibri"/>
              </a:rPr>
              <a:t>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914400"/>
            <a:ext cx="5303520" cy="548640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1051560"/>
            <a:ext cx="365760" cy="3657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051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051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038"/>
                </a:solidFill>
                <a:latin typeface="Calibri"/>
              </a:rPr>
              <a:t>坐山客有，OpenAI 没有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5087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三层记忆体系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Identity+长期+上下文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Thinking Map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发散收敛思维导图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Action Map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架构自省进度追踪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浏览器拨测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DOM/CSS/Console 全量验证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场景化隔离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多任务并行不串扰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模型无关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不绑定任何模型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038"/>
                </a:solidFill>
                <a:latin typeface="Calibri Light"/>
              </a:rPr>
              <a:t>Anthropic &amp; Google — 差距分析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5303520" cy="548640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05156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051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038"/>
                </a:solidFill>
                <a:latin typeface="Calibri"/>
              </a:rPr>
              <a:t>Anthropic（Claude）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Computer Use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直接操控电脑屏幕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Evaluator-Optimizer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生成+评估迭代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MCP 协议发明者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生态标准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Claude 模型能力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推理/代码/长上下文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D41"/>
                </a:solidFill>
                <a:latin typeface="Calibri"/>
              </a:rPr>
              <a:t>▸ 哲学: 简单可组合模式优于复杂框架</a:t>
            </a:r>
          </a:p>
        </p:txBody>
      </p:sp>
      <p:sp>
        <p:nvSpPr>
          <p:cNvPr id="10" name="Oval 9"/>
          <p:cNvSpPr/>
          <p:nvPr/>
        </p:nvSpPr>
        <p:spPr>
          <a:xfrm>
            <a:off x="5577840" y="2743200"/>
            <a:ext cx="731520" cy="731520"/>
          </a:xfrm>
          <a:prstGeom prst="ellipse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7432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2038"/>
                </a:solidFill>
                <a:latin typeface="Calibri"/>
              </a:rPr>
              <a:t>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914400"/>
            <a:ext cx="5303520" cy="548640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1051560"/>
            <a:ext cx="365760" cy="3657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051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051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2038"/>
                </a:solidFill>
                <a:latin typeface="Calibri"/>
              </a:rPr>
              <a:t>Google（Gemini + ADK）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50876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原生多模态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图片/视频/音频理解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Project Mariner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浏览器操控 Agent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A2A 协议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Agent-to-Agent 通信标准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ADK 开源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多 Agent 编排框架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282D41"/>
                </a:solidFill>
                <a:latin typeface="Calibri"/>
              </a:rPr>
              <a:t>Gemini 2.0</a:t>
            </a:r>
            <a:r>
              <a:rPr sz="1200" b="0">
                <a:solidFill>
                  <a:srgbClr val="282D41"/>
                </a:solidFill>
                <a:latin typeface="Calibri"/>
              </a:rPr>
              <a:t>▸  — 超长上下文窗口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2038"/>
                </a:solidFill>
                <a:latin typeface="Calibri Light"/>
              </a:rPr>
              <a:t>核心差距总览 — 15 项能力维度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3147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能力维度</a:t>
                      </a:r>
                    </a:p>
                  </a:txBody>
                  <a:tcPr>
                    <a:solidFill>
                      <a:srgbClr val="1A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坐山客</a:t>
                      </a:r>
                    </a:p>
                  </a:txBody>
                  <a:tcPr>
                    <a:solidFill>
                      <a:srgbClr val="1A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1A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1A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1A203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沙箱执行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Guardrails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Computer Use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语音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MCP 协议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A2A 协议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Tracing 闭环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多模态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三层记忆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Thinking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Action Map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浏览器拨测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场景化隔离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模型无关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完全私有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D41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2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36576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2038"/>
                </a:solidFill>
                <a:latin typeface="Calibri Light"/>
              </a:rPr>
              <a:t>坐山客的独特优势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2743200" cy="256032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051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2038"/>
                </a:solidFill>
                <a:latin typeface="Calibri"/>
              </a:rPr>
              <a:t>三层记忆体系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17320"/>
            <a:ext cx="18288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核心 Identity + 长期记忆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+ 上下文记忆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支持增删改查强化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914400"/>
            <a:ext cx="2743200" cy="256032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0" y="1097280"/>
            <a:ext cx="457200" cy="457200"/>
          </a:xfrm>
          <a:prstGeom prst="ellipse">
            <a:avLst/>
          </a:prstGeom>
          <a:solidFill>
            <a:srgbClr val="82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097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051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2038"/>
                </a:solidFill>
                <a:latin typeface="Calibri"/>
              </a:rPr>
              <a:t>Thinking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417320"/>
            <a:ext cx="18288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发散收敛思维导图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项目规划与需求梳理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专用工具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914400"/>
            <a:ext cx="2743200" cy="256032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1097280"/>
            <a:ext cx="457200" cy="457200"/>
          </a:xfrm>
          <a:prstGeom prst="ellipse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097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051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2038"/>
                </a:solidFill>
                <a:latin typeface="Calibri"/>
              </a:rPr>
              <a:t>Action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417320"/>
            <a:ext cx="18288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架构可视化 + 进度追踪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实时了解系统状态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914400"/>
            <a:ext cx="2743200" cy="256032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6880" y="109728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097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1051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2038"/>
                </a:solidFill>
                <a:latin typeface="Calibri"/>
              </a:rPr>
              <a:t>浏览器拨测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1417320"/>
            <a:ext cx="18288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DOM/CSS/Console/Network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全量验证，非简单浏览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749039"/>
            <a:ext cx="2743200" cy="256032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886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2038"/>
                </a:solidFill>
                <a:latin typeface="Calibri"/>
              </a:rPr>
              <a:t>场景化隔离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251959"/>
            <a:ext cx="18288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按场景隔离上下文和工具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多任务并行不串扰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3749039"/>
            <a:ext cx="2743200" cy="256032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74720" y="3931920"/>
            <a:ext cx="457200" cy="457200"/>
          </a:xfrm>
          <a:prstGeom prst="ellipse">
            <a:avLst/>
          </a:prstGeom>
          <a:solidFill>
            <a:srgbClr val="82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931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3886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2038"/>
                </a:solidFill>
                <a:latin typeface="Calibri"/>
              </a:rPr>
              <a:t>模型无关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4251959"/>
            <a:ext cx="18288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不绑定任何模型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想换就换，无厂商锁定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749039"/>
            <a:ext cx="2743200" cy="256032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00800" y="3931920"/>
            <a:ext cx="457200" cy="457200"/>
          </a:xfrm>
          <a:prstGeom prst="ellipse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3886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2038"/>
                </a:solidFill>
                <a:latin typeface="Calibri"/>
              </a:rPr>
              <a:t>完全私有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251959"/>
            <a:ext cx="18288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数据不出本地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无计费、无限流、无绑架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749039"/>
            <a:ext cx="2743200" cy="2560320"/>
          </a:xfrm>
          <a:prstGeom prst="roundRect">
            <a:avLst>
              <a:gd name="adj" fmla="val 15000"/>
            </a:avLst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326880" y="393192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3931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3886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A2038"/>
                </a:solidFill>
                <a:latin typeface="Calibri"/>
              </a:rPr>
              <a:t>动态多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4251959"/>
            <a:ext cx="18288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Supervisor/Worker 模式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96A0BE"/>
                </a:solidFill>
                <a:latin typeface="Calibri"/>
              </a:rPr>
              <a:t>按任务难度动态分配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 Light"/>
              </a:rPr>
              <a:t>最终结论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1">
                <a:solidFill>
                  <a:srgbClr val="DCE1F0"/>
                </a:solidFill>
                <a:latin typeface="Calibri"/>
              </a:rPr>
              <a:t>OpenAI/Anthropic/Google 强在基础设施</a:t>
            </a:r>
            <a:r>
              <a:rPr sz="1500" b="0">
                <a:solidFill>
                  <a:srgbClr val="DCE1F0"/>
                </a:solidFill>
                <a:latin typeface="Calibri"/>
              </a:rPr>
              <a:t>✦  — 沙箱、安全、语音、协议、生态、模型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1">
                <a:solidFill>
                  <a:srgbClr val="DCE1F0"/>
                </a:solidFill>
                <a:latin typeface="Calibri"/>
              </a:rPr>
              <a:t>国内平台强在易用性</a:t>
            </a:r>
            <a:r>
              <a:rPr sz="1500" b="0">
                <a:solidFill>
                  <a:srgbClr val="DCE1F0"/>
                </a:solidFill>
                <a:latin typeface="Calibri"/>
              </a:rPr>
              <a:t>✦  — 可视化搭建、插件市场、企业级服务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1">
                <a:solidFill>
                  <a:srgbClr val="DCE1F0"/>
                </a:solidFill>
                <a:latin typeface="Calibri"/>
              </a:rPr>
              <a:t>坐山客强在个人深度</a:t>
            </a:r>
            <a:r>
              <a:rPr sz="1500" b="0">
                <a:solidFill>
                  <a:srgbClr val="DCE1F0"/>
                </a:solidFill>
                <a:latin typeface="Calibri"/>
              </a:rPr>
              <a:t>✦  — 记忆体系、思维工具、自省能力、场景隔离、完全私有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DCE1F0"/>
                </a:solidFill>
                <a:latin typeface="Calibri"/>
              </a:rPr>
              <a:t>✦ 三巨头做的是平台，服务成千上万的开发者在其上构建 Agent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DCE1F0"/>
                </a:solidFill>
                <a:latin typeface="Calibri"/>
              </a:rPr>
              <a:t>✦ 国内平台做的是服务，让用户在其生态中消费 AI 能力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DCE1F0"/>
                </a:solidFill>
                <a:latin typeface="Calibri"/>
              </a:rPr>
              <a:t>✦ 坐山客做的是伙伴，深度服务于你一个人的工作流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DCE1F0"/>
                </a:solidFill>
                <a:latin typeface="Calibri"/>
              </a:rPr>
              <a:t>✦ 差距是真实的，但定位也是不同的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DCE1F0"/>
                </a:solidFill>
                <a:latin typeface="Calibri"/>
              </a:rPr>
              <a:t>✦ 坐山客不需要跟 OpenAI 比沙箱、跟 Anthropic 比 Computer Use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500" b="0">
                <a:solidFill>
                  <a:srgbClr val="DCE1F0"/>
                </a:solidFill>
                <a:latin typeface="Calibri"/>
              </a:rPr>
              <a:t>✦ 它需要的是把「个人 AI 伙伴」这个方向做到极致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
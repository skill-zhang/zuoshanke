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坐山客 vs 国内外 AI Agent 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9A"/>
                </a:solidFill>
                <a:latin typeface="Microsoft YaHei"/>
              </a:defRPr>
            </a:pPr>
            <a:r>
              <a:t>深度能力对比分析报告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27432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888888"/>
                </a:solidFill>
                <a:latin typeface="Microsoft YaHei"/>
              </a:defRPr>
            </a:pPr>
            <a:r>
              <a:t>基于官方文档、产品手册、白皮书的客观分析</a:t>
            </a:r>
          </a:p>
          <a:p>
            <a:pPr>
              <a:spcAft>
                <a:spcPts val="480"/>
              </a:spcAft>
              <a:defRPr sz="1600">
                <a:solidFill>
                  <a:srgbClr val="888888"/>
                </a:solidFill>
                <a:latin typeface="Microsoft YaHei"/>
              </a:defRPr>
            </a:pPr>
            <a:r>
              <a:t>覆盖国内平台（Coze/百炼/千帆/AutoGLM/OpenClaw）</a:t>
            </a:r>
          </a:p>
          <a:p>
            <a:pPr>
              <a:spcAft>
                <a:spcPts val="480"/>
              </a:spcAft>
              <a:defRPr sz="1600">
                <a:solidFill>
                  <a:srgbClr val="888888"/>
                </a:solidFill>
                <a:latin typeface="Microsoft YaHei"/>
              </a:defRPr>
            </a:pPr>
            <a:r>
              <a:t>与国际巨头（OpenAI/Anthropic/Google）的全面对比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2025年6月  |  坐山客研究团队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报告背景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560320" cy="493776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1645920"/>
            <a:ext cx="914400" cy="91440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9A"/>
                </a:solidFill>
                <a:latin typeface="Microsoft YaHei"/>
              </a:defRPr>
            </a:pPr>
            <a:r>
              <a:t>行业背景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291840"/>
            <a:ext cx="1463040" cy="254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AI Agent 领域快速发展</a:t>
            </a:r>
          </a:p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国内外平台百花齐放</a:t>
            </a:r>
          </a:p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坐山客作为开源个人AI伙伴</a:t>
            </a:r>
          </a:p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需要客观定位自身能力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560320" cy="493776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645920"/>
            <a:ext cx="914400" cy="91440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FACFE"/>
                </a:solidFill>
                <a:latin typeface="Microsoft YaHei"/>
              </a:defRPr>
            </a:pPr>
            <a:r>
              <a:t>覆盖范围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291840"/>
            <a:ext cx="1463040" cy="254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56616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国内：Coze/百炼/千帆</a:t>
            </a:r>
          </a:p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     AutoGLM/OpenClaw</a:t>
            </a:r>
          </a:p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国际：OpenAI/Anthropic/Google</a:t>
            </a:r>
          </a:p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共 8 个平台全面对比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560320" cy="493776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0" y="164592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分析维度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3291840"/>
            <a:ext cx="146304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架构哲学与设计理念</a:t>
            </a:r>
          </a:p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核心能力与工具生态</a:t>
            </a:r>
          </a:p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多Agent协作与记忆体系</a:t>
            </a:r>
          </a:p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私有化与可扩展性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371600"/>
            <a:ext cx="2560320" cy="493776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0" y="1645920"/>
            <a:ext cx="914400" cy="9144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</a:defRPr>
            </a:pPr>
            <a:r>
              <a:t>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78BFA"/>
                </a:solidFill>
                <a:latin typeface="Microsoft YaHei"/>
              </a:defRPr>
            </a:pPr>
            <a:r>
              <a:t>数据来源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3291840"/>
            <a:ext cx="146304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356616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官方产品文档 &amp; 白皮书</a:t>
            </a:r>
          </a:p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GitHub 开源仓库</a:t>
            </a:r>
          </a:p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官网产品界面截图</a:t>
            </a:r>
          </a:p>
          <a:p>
            <a:pPr>
              <a:spcAft>
                <a:spcPts val="48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技术博客与研究报告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37160" cy="109728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4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国内 AI Agent 平台深度分析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0"/>
            <a:ext cx="27432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Microsoft YaHei"/>
              </a:defRPr>
            </a:pPr>
            <a:r>
              <a:t>Coze · 阿里百炼 · 百度千帆 · 智谱AutoGLM · OpenClaw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国内主流 AI Agent 平台一览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914400"/>
          <a:ext cx="96926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2194560"/>
                <a:gridCol w="2743200"/>
                <a:gridCol w="164592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厂商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定位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核心卖点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Coze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(扣子)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字节跳动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零代码AI智能体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开发平台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可视化拖拽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工作流编排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插件市场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Apache 2.0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百炼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Model Studio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阿里云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一站式大模型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开发平台(MaaS)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千问全系列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模型微调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企业级服务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千帆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AppBuilder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百度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Agent为核心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企业级平台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文心系列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MCP协议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安全合规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AutoGLM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智谱AI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端侧自主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操控Agent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手机操控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深度搜索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报告生成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Open-AutoGLM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开源社区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个人AI助手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网关架构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375K Stars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20+渠道接入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Gateway模式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  <a:p>
                      <a:pPr algn="ctr">
                        <a:defRPr sz="14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开源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Coze（扣子） vs 坐山客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l_c1c3df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292608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▲ Coze 官网首页截图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017520"/>
            <a:ext cx="5303520" cy="34747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3246120"/>
            <a:ext cx="594360" cy="59436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918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ACFE"/>
                </a:solidFill>
                <a:latin typeface="Microsoft YaHei"/>
              </a:defRPr>
            </a:pPr>
            <a:r>
              <a:t>Coze（扣子）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零代码可视化拖拽搭建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工作流编排（静态DAG）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插件市场，一键接入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记忆：简单KV存储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数据在字节跳动云端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平台思维：服务千万用户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411480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017520"/>
            <a:ext cx="5303520" cy="34747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0" y="3246120"/>
            <a:ext cx="594360" cy="59436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2918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9A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93192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纯对话交互，无需搭建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动态多Agent协作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原生工具链（拨测/代码/系统）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三层记忆体系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数据不出本地，完全私有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伙伴思维：深度服务一个人</a:t>
            </a:r>
          </a:p>
        </p:txBody>
      </p:sp>
      <p:pic>
        <p:nvPicPr>
          <p:cNvPr id="16" name="Picture 15" descr="img_20260529_160249_531326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8229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阿里百炼（Model Studio） vs 坐山客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5303520" cy="548640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143000"/>
            <a:ext cx="594360" cy="5943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42"/>
                </a:solidFill>
                <a:latin typeface="Microsoft YaHei"/>
              </a:defRPr>
            </a:pPr>
            <a:r>
              <a:t>阿里百炼（Model Studio）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一站式MaaS平台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千问全系列+第三方模型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可视化流程编排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模型微调（SFT/CPT/DPO）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API兼容OpenAI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企业级计费/部署/评测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数据在阿里云，按量付费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320040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914400"/>
            <a:ext cx="5303520" cy="548640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143000"/>
            <a:ext cx="594360" cy="59436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9A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个人AI工作伙伴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模型无关，自由切换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纯对话交互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无需微调，靠提示词+工具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原生工具链，非API封装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单用户深度定制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完全免费，数据完全本地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OpenClaw vs 坐山客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5303520" cy="548640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143000"/>
            <a:ext cx="594360" cy="5943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Microsoft YaHei"/>
              </a:defRPr>
            </a:pPr>
            <a:r>
              <a:t>OpenClaw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375K GitHub Stars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Gateway网关架构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20+ 渠道接入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插件系统，社区生态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知识库/RAG支持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多模型路由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开源，可自部署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320040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914400"/>
            <a:ext cx="5303520" cy="548640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143000"/>
            <a:ext cx="594360" cy="59436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9A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个人AI工作伙伴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Agent Loop + 动态协作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场景化路由（隔离上下文）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原生工具链（非插件）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三层记忆体系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Thinking Map + Action Map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▸ 深度定制，源码级扩展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37160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D70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国际 AI Agent 巨头深度分析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0"/>
            <a:ext cx="27432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Microsoft YaHei"/>
              </a:defRPr>
            </a:pPr>
            <a:r>
              <a:t>OpenAI Agents SDK · Anthropic Claude · Google Gemini + ADK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OpenAI Agents SDK vs 坐山客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5303520" cy="548640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143000"/>
            <a:ext cx="594360" cy="5943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icrosoft YaHei"/>
              </a:defRPr>
            </a:pPr>
            <a:r>
              <a:t>OpenAI Agents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✅ Agent Loop 自动处理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✅ Handoffs 多Agent交接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✅ Guardrails 安全护栏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✅ Sandbox Agent 隔离沙箱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✅ Tracing→评估→微调闭环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✅ Realtime Voice 语音Agent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❌ 仅OpenAI模型，数据在云端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320040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914400"/>
            <a:ext cx="5303520" cy="548640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143000"/>
            <a:ext cx="594360" cy="59436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9A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✅ Agent Loop + 动态协作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✅ Supervisor/Worker 模式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❌ 无显式Guardrails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❌ 代码执行无隔离沙箱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✅ Action Map + Thinking Map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❌ 无语音能力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Microsoft YaHei"/>
              </a:defRPr>
            </a:pPr>
            <a:r>
              <a:t>✅ 模型无关，数据完全本地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Anthropic（Claude）&amp; Google（Gemini）vs 坐山客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l_6ca3b1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347472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2651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▲ Anthropic 官网首页截图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017520"/>
            <a:ext cx="3474720" cy="365760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3246120"/>
            <a:ext cx="594360" cy="5943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42"/>
                </a:solidFill>
                <a:latin typeface="Microsoft YaHei"/>
              </a:defRPr>
            </a:pPr>
            <a:r>
              <a:t>Anthropic Claude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✅ Computer Use 操控电脑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✅ Evaluator-Optimizer 模式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✅ MCP协议发明者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✅ 顶级模型+长上下文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❌ 仅Claude模型，数据云端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017520"/>
            <a:ext cx="3474720" cy="365760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3246120"/>
            <a:ext cx="594360" cy="59436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ACFE"/>
                </a:solidFill>
                <a:latin typeface="Microsoft YaHei"/>
              </a:defRPr>
            </a:pPr>
            <a:r>
              <a:t>Google Gemini + ADK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9319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✅ 原生多模态（图/视频/音频）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✅ A2A Agent通信协议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✅ Project Mariner 浏览器操控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✅ ADK开源框架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❌ 仅Gemini模型，数据云端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017520"/>
            <a:ext cx="3474720" cy="365760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599" y="3246120"/>
            <a:ext cx="594360" cy="59436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9A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39319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❌ 无Computer Use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❌ 无Evaluator-Optimizer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❌ 不支持MCP/A2A协议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✅ 模型无关，自由切换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✅ 完全本地私有+三层记忆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核心差距总览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822960"/>
          <a:ext cx="91440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能力维度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OpenAI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Anthropic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Google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坐山客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Agent Loop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多Agent协作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Handoffs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Orchestrator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ADK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Supervisor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沙箱执行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Sandbox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Guardrails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Computer Use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Mariner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语音Agent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Realtime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MCP协议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发明者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A2A协议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发明者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Tracing闭环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⚠️ 部分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多模态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原生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⚠️ 依赖模型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三层记忆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Thinking Map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Action Map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浏览器拨测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完全私有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坐山客的独特优势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2651760" cy="25603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097280"/>
            <a:ext cx="502920" cy="50292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9A"/>
                </a:solidFill>
                <a:latin typeface="Microsoft YaHei"/>
              </a:defRPr>
            </a:pPr>
            <a:r>
              <a:t>三层记忆体系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Identity + 长期记忆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+ 上下文记忆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支持增删改查强化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914400"/>
            <a:ext cx="2651760" cy="25603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1097280"/>
            <a:ext cx="502920" cy="50292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ACFE"/>
                </a:solidFill>
                <a:latin typeface="Microsoft YaHei"/>
              </a:defRPr>
            </a:pPr>
            <a:r>
              <a:t>Thinking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发散收敛思维导图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项目规划专用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自动生成优先级队列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914400"/>
            <a:ext cx="2651760" cy="25603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097280"/>
            <a:ext cx="502920" cy="5029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Action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架构自省可视化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进度追踪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系统状态一目了然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914400"/>
            <a:ext cx="2651760" cy="25603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81160" y="109728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Microsoft YaHei"/>
              </a:defRPr>
            </a:pPr>
            <a:r>
              <a:t>浏览器拨测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DOM/CSS/Console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Network全量验证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非简单网页浏览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49039"/>
            <a:ext cx="2651760" cy="25603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931919"/>
            <a:ext cx="502920" cy="5029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977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Microsoft YaHei"/>
              </a:defRPr>
            </a:pPr>
            <a:r>
              <a:t>原生工具链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1999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代码执行/系统操作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搜索/文件/翻译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深度集成非插件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749039"/>
            <a:ext cx="2651760" cy="25603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0440" y="3931919"/>
            <a:ext cx="502920" cy="50292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977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9A"/>
                </a:solidFill>
                <a:latin typeface="Microsoft YaHei"/>
              </a:defRPr>
            </a:pPr>
            <a:r>
              <a:t>场景化路由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571999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按场景隔离上下文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多任务并行不串扰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工具按需加载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749039"/>
            <a:ext cx="2651760" cy="25603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0" y="3931919"/>
            <a:ext cx="502920" cy="50292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77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ACFE"/>
                </a:solidFill>
                <a:latin typeface="Microsoft YaHei"/>
              </a:defRPr>
            </a:pPr>
            <a:r>
              <a:t>完全私有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571999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数据不出本地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无商业绑架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无计费无限流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3749039"/>
            <a:ext cx="2651760" cy="25603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81160" y="3931919"/>
            <a:ext cx="502920" cy="5029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3977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模型无关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571999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不绑定任何模型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自由切换</a:t>
            </a:r>
          </a:p>
          <a:p>
            <a:pPr>
              <a:spcAft>
                <a:spcPts val="42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想换就换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最终结论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22860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✦ 国内平台强在「平台化」—— 零门槛搭建、插件生态、企业级服务，但数据在云端，受限于平台边界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✦ 国际巨头强在「基础设施」—— 沙箱、安全、语音、协议、多模态、顶级模型，但绑定自家生态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✦ 坐山客强在「个人深度」—— 三层记忆、思维工具、自省能力、场景隔离、完全私有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✦ 三巨头做的是平台，服务成千上万的开发者在其上构建 Agent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✦ 坐山客做的是伙伴，深度服务于一个人的工作流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5760720"/>
            <a:ext cx="36576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700"/>
                </a:solidFill>
                <a:latin typeface="Microsoft YaHei"/>
              </a:defRPr>
            </a:pPr>
            <a:r>
              <a:t>差距是真实的，但定位也是不同的。坐山客不需要跟 OpenAI 比沙箱——它需要的是把「个人 AI 伙伴」做到极致。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
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20260529_163218_608935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>
              <a:alpha val="CC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11480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坐山客 vs 国内外 AI Agent 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00D4E8"/>
                </a:solidFill>
                <a:latin typeface="Microsoft YaHei"/>
              </a:defRPr>
            </a:pPr>
            <a:r>
              <a:t>深度能力对比分析报告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840480"/>
            <a:ext cx="3200400" cy="508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>
                <a:solidFill>
                  <a:srgbClr val="8899AA"/>
                </a:solidFill>
                <a:latin typeface="Microsoft YaHei"/>
              </a:defRPr>
            </a:pPr>
            <a:r>
              <a:t>基于官方文档、产品手册、白皮书的客观分析</a:t>
            </a:r>
          </a:p>
          <a:p>
            <a:pPr>
              <a:spcAft>
                <a:spcPts val="540"/>
              </a:spcAft>
              <a:defRPr sz="1800">
                <a:solidFill>
                  <a:srgbClr val="8899AA"/>
                </a:solidFill>
                <a:latin typeface="Microsoft YaHei"/>
              </a:defRPr>
            </a:pPr>
            <a:r>
              <a:t>覆盖国内平台（Coze/百炼/千帆/AutoGLM/OpenClaw）</a:t>
            </a:r>
          </a:p>
          <a:p>
            <a:pPr>
              <a:spcAft>
                <a:spcPts val="540"/>
              </a:spcAft>
              <a:defRPr sz="1800">
                <a:solidFill>
                  <a:srgbClr val="8899AA"/>
                </a:solidFill>
                <a:latin typeface="Microsoft YaHei"/>
              </a:defRPr>
            </a:pPr>
            <a:r>
              <a:t>与国际巨头（OpenAI/Anthropic/Google）的全面对比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17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899AA"/>
                </a:solidFill>
                <a:latin typeface="Microsoft YaHei"/>
              </a:defRPr>
            </a:pPr>
            <a:r>
              <a:t>2025年6月  |  坐山客研究团队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报告背景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"/>
            <a:ext cx="228600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4572000" cy="5303520"/>
          </a:xfrm>
          <a:prstGeom prst="roundRect">
            <a:avLst/>
          </a:prstGeom>
          <a:solidFill>
            <a:srgbClr val="1A2A4A"/>
          </a:solidFill>
          <a:ln w="25400"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g_20260529_165503_477109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429768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57150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▲ AI Agent 生态全景图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005840"/>
            <a:ext cx="6400800" cy="1188720"/>
          </a:xfrm>
          <a:prstGeom prst="roundRect">
            <a:avLst/>
          </a:prstGeom>
          <a:solidFill>
            <a:srgbClr val="1A2A4A"/>
          </a:solidFill>
          <a:ln w="2540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40680" y="1234440"/>
            <a:ext cx="640080" cy="640080"/>
          </a:xfrm>
          <a:prstGeom prst="ellipse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1430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07A"/>
                </a:solidFill>
                <a:latin typeface="Microsoft YaHei"/>
              </a:defRPr>
            </a:pPr>
            <a:r>
              <a:t>行业背景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5087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D8E0EE"/>
                </a:solidFill>
                <a:latin typeface="Microsoft YaHei"/>
              </a:defRPr>
            </a:pPr>
            <a:r>
              <a:t>AI Agent 领域快速发展</a:t>
            </a:r>
          </a:p>
          <a:p>
            <a:pPr>
              <a:spcAft>
                <a:spcPts val="420"/>
              </a:spcAft>
              <a:defRPr sz="1400">
                <a:solidFill>
                  <a:srgbClr val="D8E0EE"/>
                </a:solidFill>
                <a:latin typeface="Microsoft YaHei"/>
              </a:defRPr>
            </a:pPr>
            <a:r>
              <a:t>国内外平台百花齐放</a:t>
            </a:r>
          </a:p>
          <a:p>
            <a:pPr>
              <a:spcAft>
                <a:spcPts val="420"/>
              </a:spcAft>
              <a:defRPr sz="1400">
                <a:solidFill>
                  <a:srgbClr val="D8E0EE"/>
                </a:solidFill>
                <a:latin typeface="Microsoft YaHei"/>
              </a:defRPr>
            </a:pPr>
            <a:r>
              <a:t>坐山客作为开源个人AI伙伴</a:t>
            </a:r>
          </a:p>
          <a:p>
            <a:pPr>
              <a:spcAft>
                <a:spcPts val="420"/>
              </a:spcAft>
              <a:defRPr sz="1400">
                <a:solidFill>
                  <a:srgbClr val="D8E0EE"/>
                </a:solidFill>
                <a:latin typeface="Microsoft YaHei"/>
              </a:defRPr>
            </a:pPr>
            <a:r>
              <a:t>需要客观定位自身能力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2377440"/>
            <a:ext cx="6400800" cy="1188720"/>
          </a:xfrm>
          <a:prstGeom prst="roundRect">
            <a:avLst/>
          </a:prstGeom>
          <a:solidFill>
            <a:srgbClr val="1A2A4A"/>
          </a:solidFill>
          <a:ln w="25400">
            <a:solidFill>
              <a:srgbClr val="309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40680" y="2606040"/>
            <a:ext cx="640080" cy="640080"/>
          </a:xfrm>
          <a:prstGeom prst="ellipse">
            <a:avLst/>
          </a:prstGeom>
          <a:solidFill>
            <a:srgbClr val="309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514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090F0"/>
                </a:solidFill>
                <a:latin typeface="Microsoft YaHei"/>
              </a:defRPr>
            </a:pPr>
            <a:r>
              <a:t>覆盖范围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8803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D8E0EE"/>
                </a:solidFill>
                <a:latin typeface="Microsoft YaHei"/>
              </a:defRPr>
            </a:pPr>
            <a:r>
              <a:t>国内：Coze/百炼/千帆</a:t>
            </a:r>
          </a:p>
          <a:p>
            <a:pPr>
              <a:spcAft>
                <a:spcPts val="420"/>
              </a:spcAft>
              <a:defRPr sz="1400">
                <a:solidFill>
                  <a:srgbClr val="D8E0EE"/>
                </a:solidFill>
                <a:latin typeface="Microsoft YaHei"/>
              </a:defRPr>
            </a:pPr>
            <a:r>
              <a:t>     AutoGLM/OpenClaw</a:t>
            </a:r>
          </a:p>
          <a:p>
            <a:pPr>
              <a:spcAft>
                <a:spcPts val="420"/>
              </a:spcAft>
              <a:defRPr sz="1400">
                <a:solidFill>
                  <a:srgbClr val="D8E0EE"/>
                </a:solidFill>
                <a:latin typeface="Microsoft YaHei"/>
              </a:defRPr>
            </a:pPr>
            <a:r>
              <a:t>国际：OpenAI/Anthropic/Google</a:t>
            </a:r>
          </a:p>
          <a:p>
            <a:pPr>
              <a:spcAft>
                <a:spcPts val="420"/>
              </a:spcAft>
              <a:defRPr sz="1400">
                <a:solidFill>
                  <a:srgbClr val="D8E0EE"/>
                </a:solidFill>
                <a:latin typeface="Microsoft YaHei"/>
              </a:defRPr>
            </a:pPr>
            <a:r>
              <a:t>共 8 个平台全面对比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3749039"/>
            <a:ext cx="6400800" cy="1188720"/>
          </a:xfrm>
          <a:prstGeom prst="roundRect">
            <a:avLst/>
          </a:prstGeom>
          <a:solidFill>
            <a:srgbClr val="1A2A4A"/>
          </a:solidFill>
          <a:ln w="25400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40680" y="3977639"/>
            <a:ext cx="640080" cy="640080"/>
          </a:xfrm>
          <a:prstGeom prst="ellipse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88619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C040"/>
                </a:solidFill>
                <a:latin typeface="Microsoft YaHei"/>
              </a:defRPr>
            </a:pPr>
            <a:r>
              <a:t>分析维度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251959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D8E0EE"/>
                </a:solidFill>
                <a:latin typeface="Microsoft YaHei"/>
              </a:defRPr>
            </a:pPr>
            <a:r>
              <a:t>架构哲学与设计理念</a:t>
            </a:r>
          </a:p>
          <a:p>
            <a:pPr>
              <a:spcAft>
                <a:spcPts val="420"/>
              </a:spcAft>
              <a:defRPr sz="1400">
                <a:solidFill>
                  <a:srgbClr val="D8E0EE"/>
                </a:solidFill>
                <a:latin typeface="Microsoft YaHei"/>
              </a:defRPr>
            </a:pPr>
            <a:r>
              <a:t>核心能力与工具生态</a:t>
            </a:r>
          </a:p>
          <a:p>
            <a:pPr>
              <a:spcAft>
                <a:spcPts val="420"/>
              </a:spcAft>
              <a:defRPr sz="1400">
                <a:solidFill>
                  <a:srgbClr val="D8E0EE"/>
                </a:solidFill>
                <a:latin typeface="Microsoft YaHei"/>
              </a:defRPr>
            </a:pPr>
            <a:r>
              <a:t>多Agent协作与记忆体系</a:t>
            </a:r>
          </a:p>
          <a:p>
            <a:pPr>
              <a:spcAft>
                <a:spcPts val="420"/>
              </a:spcAft>
              <a:defRPr sz="1400">
                <a:solidFill>
                  <a:srgbClr val="D8E0EE"/>
                </a:solidFill>
                <a:latin typeface="Microsoft YaHei"/>
              </a:defRPr>
            </a:pPr>
            <a:r>
              <a:t>私有化与可扩展性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0" y="5120640"/>
            <a:ext cx="6400800" cy="1188720"/>
          </a:xfrm>
          <a:prstGeom prst="roundRect">
            <a:avLst/>
          </a:prstGeom>
          <a:solidFill>
            <a:srgbClr val="1A2A4A"/>
          </a:solidFill>
          <a:ln w="25400">
            <a:solidFill>
              <a:srgbClr val="A05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440680" y="5349240"/>
            <a:ext cx="640080" cy="640080"/>
          </a:xfrm>
          <a:prstGeom prst="ellipse">
            <a:avLst/>
          </a:prstGeom>
          <a:solidFill>
            <a:srgbClr val="A05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2578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05AE0"/>
                </a:solidFill>
                <a:latin typeface="Microsoft YaHei"/>
              </a:defRPr>
            </a:pPr>
            <a:r>
              <a:t>数据来源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6235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D8E0EE"/>
                </a:solidFill>
                <a:latin typeface="Microsoft YaHei"/>
              </a:defRPr>
            </a:pPr>
            <a:r>
              <a:t>官方产品文档 &amp; 白皮书</a:t>
            </a:r>
          </a:p>
          <a:p>
            <a:pPr>
              <a:spcAft>
                <a:spcPts val="420"/>
              </a:spcAft>
              <a:defRPr sz="1400">
                <a:solidFill>
                  <a:srgbClr val="D8E0EE"/>
                </a:solidFill>
                <a:latin typeface="Microsoft YaHei"/>
              </a:defRPr>
            </a:pPr>
            <a:r>
              <a:t>GitHub 开源仓库</a:t>
            </a:r>
          </a:p>
          <a:p>
            <a:pPr>
              <a:spcAft>
                <a:spcPts val="420"/>
              </a:spcAft>
              <a:defRPr sz="1400">
                <a:solidFill>
                  <a:srgbClr val="D8E0EE"/>
                </a:solidFill>
                <a:latin typeface="Microsoft YaHei"/>
              </a:defRPr>
            </a:pPr>
            <a:r>
              <a:t>官网产品界面截图</a:t>
            </a:r>
          </a:p>
          <a:p>
            <a:pPr>
              <a:spcAft>
                <a:spcPts val="420"/>
              </a:spcAft>
              <a:defRPr sz="1400">
                <a:solidFill>
                  <a:srgbClr val="D8E0EE"/>
                </a:solidFill>
                <a:latin typeface="Microsoft YaHei"/>
              </a:defRPr>
            </a:pPr>
            <a:r>
              <a:t>技术博客与研究报告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20260529_164921_905322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>
              <a:alpha val="CC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09728" cy="109728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D4E8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国内 AI Agent 平台深度分析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114800"/>
            <a:ext cx="3200400" cy="381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99AA"/>
                </a:solidFill>
                <a:latin typeface="Microsoft YaHei"/>
              </a:defRPr>
            </a:pPr>
            <a:r>
              <a:t>Coze · 阿里百炼 · 百度千帆 · 智谱AutoGLM · OpenClaw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国内主流 AI Agent 平台一览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48640"/>
            <a:ext cx="228600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822960"/>
          <a:ext cx="96926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463040"/>
                <a:gridCol w="2194560"/>
                <a:gridCol w="2743200"/>
                <a:gridCol w="1645920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平台</a:t>
                      </a:r>
                    </a:p>
                  </a:txBody>
                  <a:tcPr anchor="ctr">
                    <a:solidFill>
                      <a:srgbClr val="0099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厂商</a:t>
                      </a:r>
                    </a:p>
                  </a:txBody>
                  <a:tcPr anchor="ctr">
                    <a:solidFill>
                      <a:srgbClr val="0099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定位</a:t>
                      </a:r>
                    </a:p>
                  </a:txBody>
                  <a:tcPr anchor="ctr">
                    <a:solidFill>
                      <a:srgbClr val="0099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核心卖点</a:t>
                      </a:r>
                    </a:p>
                  </a:txBody>
                  <a:tcPr anchor="ctr">
                    <a:solidFill>
                      <a:srgbClr val="0099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开源</a:t>
                      </a:r>
                    </a:p>
                  </a:txBody>
                  <a:tcPr anchor="ctr">
                    <a:solidFill>
                      <a:srgbClr val="0099BB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Coze</a:t>
                      </a:r>
                    </a:p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(扣子)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字节跳动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零代码AI智能体</a:t>
                      </a:r>
                    </a:p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开发平台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可视化拖拽</a:t>
                      </a:r>
                    </a:p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工作流编排</a:t>
                      </a:r>
                    </a:p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插件市场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Apache 2.0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百炼</a:t>
                      </a:r>
                    </a:p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Model Studio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阿里云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一站式大模型</a:t>
                      </a:r>
                    </a:p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开发平台(MaaS)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千问全系列</a:t>
                      </a:r>
                    </a:p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模型微调</a:t>
                      </a:r>
                    </a:p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企业级服务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千帆</a:t>
                      </a:r>
                    </a:p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AppBuilder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百度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Agent为核心</a:t>
                      </a:r>
                    </a:p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企业级平台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文心系列</a:t>
                      </a:r>
                    </a:p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MCP协议</a:t>
                      </a:r>
                    </a:p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安全合规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AutoGLM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智谱AI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端侧自主</a:t>
                      </a:r>
                    </a:p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操控Agent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手机操控</a:t>
                      </a:r>
                    </a:p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深度搜索</a:t>
                      </a:r>
                    </a:p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报告生成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Open-AutoGLM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OpenClaw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开源社区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个人AI助手</a:t>
                      </a:r>
                    </a:p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网关架构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375K Stars</a:t>
                      </a:r>
                    </a:p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20+渠道接入</a:t>
                      </a:r>
                    </a:p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Gateway模式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  <a:p>
                      <a:pPr algn="ctr">
                        <a:defRPr sz="15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开源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img_20260529_164921_905322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0"/>
            <a:ext cx="2286000" cy="731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5943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99AA"/>
                </a:solidFill>
                <a:latin typeface="Microsoft YaHei"/>
              </a:defRPr>
            </a:pPr>
            <a:r>
              <a:t>▲ 国内AI平台生态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Coze（扣子） vs 坐山客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"/>
            <a:ext cx="228600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731520"/>
            <a:ext cx="5029200" cy="2560320"/>
          </a:xfrm>
          <a:prstGeom prst="roundRect">
            <a:avLst/>
          </a:prstGeom>
          <a:solidFill>
            <a:srgbClr val="1A2A4A"/>
          </a:solidFill>
          <a:ln w="25400">
            <a:solidFill>
              <a:srgbClr val="309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l_c1c3df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68680"/>
            <a:ext cx="4754880" cy="1737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2697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▲ Coze 官网首页截图</a:t>
            </a:r>
          </a:p>
        </p:txBody>
      </p:sp>
      <p:sp>
        <p:nvSpPr>
          <p:cNvPr id="9" name="Oval 8"/>
          <p:cNvSpPr/>
          <p:nvPr/>
        </p:nvSpPr>
        <p:spPr>
          <a:xfrm>
            <a:off x="5394960" y="1463040"/>
            <a:ext cx="1280160" cy="1280160"/>
          </a:xfrm>
          <a:prstGeom prst="ellipse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731520"/>
            <a:ext cx="5029200" cy="2560320"/>
          </a:xfrm>
          <a:prstGeom prst="roundRect">
            <a:avLst/>
          </a:prstGeom>
          <a:solidFill>
            <a:srgbClr val="1A2A4A"/>
          </a:solidFill>
          <a:ln w="2540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914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07A"/>
                </a:solidFill>
                <a:latin typeface="Microsoft YaHei"/>
              </a:defRPr>
            </a:pPr>
            <a:r>
              <a:t>🤖 坐山客 — 你的AI工作伙伴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4630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D8E0EE"/>
                </a:solidFill>
                <a:latin typeface="Microsoft YaHei"/>
              </a:defRPr>
            </a:pPr>
            <a:r>
              <a:t>纯对话交互 · 完全私有 · 深度定制</a:t>
            </a:r>
          </a:p>
          <a:p>
            <a:pPr>
              <a:spcAft>
                <a:spcPts val="480"/>
              </a:spcAft>
              <a:defRPr sz="1600">
                <a:solidFill>
                  <a:srgbClr val="D8E0EE"/>
                </a:solidFill>
                <a:latin typeface="Microsoft YaHei"/>
              </a:defRPr>
            </a:pPr>
            <a:r>
              <a:t>三层记忆 · 动态协作 · 原生工具链</a:t>
            </a:r>
          </a:p>
          <a:p>
            <a:pPr>
              <a:spcAft>
                <a:spcPts val="480"/>
              </a:spcAft>
              <a:defRPr sz="1600">
                <a:solidFill>
                  <a:srgbClr val="D8E0EE"/>
                </a:solidFill>
                <a:latin typeface="Microsoft YaHei"/>
              </a:defRPr>
            </a:pPr>
            <a:r>
              <a:t>Thinking Map · Action Map · 场景隔离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303520" cy="2926080"/>
          </a:xfrm>
          <a:prstGeom prst="roundRect">
            <a:avLst/>
          </a:prstGeom>
          <a:solidFill>
            <a:srgbClr val="14203C"/>
          </a:solidFill>
          <a:ln w="25400">
            <a:solidFill>
              <a:srgbClr val="309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2920" y="3749040"/>
            <a:ext cx="548640" cy="548640"/>
          </a:xfrm>
          <a:prstGeom prst="ellipse">
            <a:avLst/>
          </a:prstGeom>
          <a:solidFill>
            <a:srgbClr val="309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94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090F0"/>
                </a:solidFill>
                <a:latin typeface="Microsoft YaHei"/>
              </a:defRPr>
            </a:pPr>
            <a:r>
              <a:t>Coze（扣子）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8912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零代码可视化拖拽搭建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工作流编排（静态DAG）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插件市场，一键接入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记忆：简单KV存储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数据在字节跳动云端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平台思维：服务千万用户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566160"/>
            <a:ext cx="5303520" cy="2926080"/>
          </a:xfrm>
          <a:prstGeom prst="roundRect">
            <a:avLst/>
          </a:prstGeom>
          <a:solidFill>
            <a:srgbClr val="14203C"/>
          </a:solidFill>
          <a:ln w="2540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29400" y="3749040"/>
            <a:ext cx="548640" cy="548640"/>
          </a:xfrm>
          <a:prstGeom prst="ellipse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794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07A"/>
                </a:solidFill>
                <a:latin typeface="Microsoft YaHei"/>
              </a:defRPr>
            </a:pPr>
            <a:r>
              <a:t>坐山客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38912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纯对话交互，无需搭建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动态多Agent协作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原生工具链（拨测/代码/系统）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三层记忆体系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数据不出本地，完全私有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伙伴思维：深度服务一个人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阿里百炼（Model Studio） vs 坐山客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"/>
            <a:ext cx="228600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731520"/>
            <a:ext cx="5029200" cy="2286000"/>
          </a:xfrm>
          <a:prstGeom prst="roundRect">
            <a:avLst/>
          </a:prstGeom>
          <a:solidFill>
            <a:srgbClr val="1A2A4A"/>
          </a:solidFill>
          <a:ln w="25400">
            <a:solidFill>
              <a:srgbClr val="F0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7A3A"/>
                </a:solidFill>
                <a:latin typeface="Microsoft YaHei"/>
              </a:defRPr>
            </a:pPr>
            <a:r>
              <a:t>☁️ 阿里百炼 Model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D8E0EE"/>
                </a:solidFill>
                <a:latin typeface="Microsoft YaHei"/>
              </a:defRPr>
            </a:pPr>
            <a:r>
              <a:t>一站式MaaS平台 · 千问全系列模型</a:t>
            </a:r>
          </a:p>
          <a:p>
            <a:pPr>
              <a:spcAft>
                <a:spcPts val="480"/>
              </a:spcAft>
              <a:defRPr sz="1600">
                <a:solidFill>
                  <a:srgbClr val="D8E0EE"/>
                </a:solidFill>
                <a:latin typeface="Microsoft YaHei"/>
              </a:defRPr>
            </a:pPr>
            <a:r>
              <a:t>可视化流程编排 · 模型微调(SFT/CPT/DPO)</a:t>
            </a:r>
          </a:p>
          <a:p>
            <a:pPr>
              <a:spcAft>
                <a:spcPts val="480"/>
              </a:spcAft>
              <a:defRPr sz="1600">
                <a:solidFill>
                  <a:srgbClr val="D8E0EE"/>
                </a:solidFill>
                <a:latin typeface="Microsoft YaHei"/>
              </a:defRPr>
            </a:pPr>
            <a:r>
              <a:t>API兼容OpenAI · 企业级计费部署</a:t>
            </a:r>
          </a:p>
        </p:txBody>
      </p:sp>
      <p:sp>
        <p:nvSpPr>
          <p:cNvPr id="9" name="Oval 8"/>
          <p:cNvSpPr/>
          <p:nvPr/>
        </p:nvSpPr>
        <p:spPr>
          <a:xfrm>
            <a:off x="5394960" y="1463040"/>
            <a:ext cx="1280160" cy="1280160"/>
          </a:xfrm>
          <a:prstGeom prst="ellipse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731520"/>
            <a:ext cx="5029200" cy="2286000"/>
          </a:xfrm>
          <a:prstGeom prst="roundRect">
            <a:avLst/>
          </a:prstGeom>
          <a:solidFill>
            <a:srgbClr val="1A2A4A"/>
          </a:solidFill>
          <a:ln w="2540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914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07A"/>
                </a:solidFill>
                <a:latin typeface="Microsoft YaHei"/>
              </a:defRPr>
            </a:pPr>
            <a:r>
              <a:t>🛡️ 坐山客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4630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D8E0EE"/>
                </a:solidFill>
                <a:latin typeface="Microsoft YaHei"/>
              </a:defRPr>
            </a:pPr>
            <a:r>
              <a:t>个人AI工作伙伴 · 模型无关自由切换</a:t>
            </a:r>
          </a:p>
          <a:p>
            <a:pPr>
              <a:spcAft>
                <a:spcPts val="480"/>
              </a:spcAft>
              <a:defRPr sz="1600">
                <a:solidFill>
                  <a:srgbClr val="D8E0EE"/>
                </a:solidFill>
                <a:latin typeface="Microsoft YaHei"/>
              </a:defRPr>
            </a:pPr>
            <a:r>
              <a:t>纯对话交互 · 无需微调</a:t>
            </a:r>
          </a:p>
          <a:p>
            <a:pPr>
              <a:spcAft>
                <a:spcPts val="480"/>
              </a:spcAft>
              <a:defRPr sz="1600">
                <a:solidFill>
                  <a:srgbClr val="D8E0EE"/>
                </a:solidFill>
                <a:latin typeface="Microsoft YaHei"/>
              </a:defRPr>
            </a:pPr>
            <a:r>
              <a:t>完全免费 · 数据完全本地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291840"/>
            <a:ext cx="5303520" cy="3200400"/>
          </a:xfrm>
          <a:prstGeom prst="roundRect">
            <a:avLst/>
          </a:prstGeom>
          <a:solidFill>
            <a:srgbClr val="14203C"/>
          </a:solidFill>
          <a:ln w="25400">
            <a:solidFill>
              <a:srgbClr val="F0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2920" y="3474720"/>
            <a:ext cx="548640" cy="548640"/>
          </a:xfrm>
          <a:prstGeom prst="ellipse">
            <a:avLst/>
          </a:prstGeom>
          <a:solidFill>
            <a:srgbClr val="F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520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7A3A"/>
                </a:solidFill>
                <a:latin typeface="Microsoft YaHei"/>
              </a:defRPr>
            </a:pPr>
            <a:r>
              <a:t>阿里百炼（Model Studio）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1480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一站式MaaS平台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千问全系列+第三方模型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可视化流程编排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模型微调（SFT/CPT/DPO）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API兼容OpenAI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企业级计费/部署/评测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数据在阿里云，按量付费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291840"/>
            <a:ext cx="5303520" cy="3200400"/>
          </a:xfrm>
          <a:prstGeom prst="roundRect">
            <a:avLst/>
          </a:prstGeom>
          <a:solidFill>
            <a:srgbClr val="14203C"/>
          </a:solidFill>
          <a:ln w="2540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29400" y="3474720"/>
            <a:ext cx="548640" cy="548640"/>
          </a:xfrm>
          <a:prstGeom prst="ellipse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520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07A"/>
                </a:solidFill>
                <a:latin typeface="Microsoft YaHei"/>
              </a:defRPr>
            </a:pPr>
            <a:r>
              <a:t>坐山客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11480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个人AI工作伙伴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模型无关，自由切换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纯对话交互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无需微调，靠提示词+工具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原生工具链，非API封装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单用户深度定制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完全免费，数据完全本地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OpenClaw vs 坐山客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"/>
            <a:ext cx="228600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731520"/>
            <a:ext cx="5029200" cy="2286000"/>
          </a:xfrm>
          <a:prstGeom prst="roundRect">
            <a:avLst/>
          </a:prstGeom>
          <a:solidFill>
            <a:srgbClr val="1A2A4A"/>
          </a:solidFill>
          <a:ln w="25400">
            <a:solidFill>
              <a:srgbClr val="A05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05AE0"/>
                </a:solidFill>
                <a:latin typeface="Microsoft YaHei"/>
              </a:defRPr>
            </a:pPr>
            <a:r>
              <a:t>🌐 OpenClaw — 375K Stars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D8E0EE"/>
                </a:solidFill>
                <a:latin typeface="Microsoft YaHei"/>
              </a:defRPr>
            </a:pPr>
            <a:r>
              <a:t>开源个人AI助手 · Gateway网关架构</a:t>
            </a:r>
          </a:p>
          <a:p>
            <a:pPr>
              <a:spcAft>
                <a:spcPts val="480"/>
              </a:spcAft>
              <a:defRPr sz="1600">
                <a:solidFill>
                  <a:srgbClr val="D8E0EE"/>
                </a:solidFill>
                <a:latin typeface="Microsoft YaHei"/>
              </a:defRPr>
            </a:pPr>
            <a:r>
              <a:t>20+渠道接入 · 插件系统 · 社区生态</a:t>
            </a:r>
          </a:p>
          <a:p>
            <a:pPr>
              <a:spcAft>
                <a:spcPts val="480"/>
              </a:spcAft>
              <a:defRPr sz="1600">
                <a:solidFill>
                  <a:srgbClr val="D8E0EE"/>
                </a:solidFill>
                <a:latin typeface="Microsoft YaHei"/>
              </a:defRPr>
            </a:pPr>
            <a:r>
              <a:t>知识库/RAG · 多模型路由</a:t>
            </a:r>
          </a:p>
        </p:txBody>
      </p:sp>
      <p:sp>
        <p:nvSpPr>
          <p:cNvPr id="9" name="Oval 8"/>
          <p:cNvSpPr/>
          <p:nvPr/>
        </p:nvSpPr>
        <p:spPr>
          <a:xfrm>
            <a:off x="5394960" y="1463040"/>
            <a:ext cx="1280160" cy="1280160"/>
          </a:xfrm>
          <a:prstGeom prst="ellipse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731520"/>
            <a:ext cx="5029200" cy="2286000"/>
          </a:xfrm>
          <a:prstGeom prst="roundRect">
            <a:avLst/>
          </a:prstGeom>
          <a:solidFill>
            <a:srgbClr val="1A2A4A"/>
          </a:solidFill>
          <a:ln w="2540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914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07A"/>
                </a:solidFill>
                <a:latin typeface="Microsoft YaHei"/>
              </a:defRPr>
            </a:pPr>
            <a:r>
              <a:t>⚡ 坐山客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4630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D8E0EE"/>
                </a:solidFill>
                <a:latin typeface="Microsoft YaHei"/>
              </a:defRPr>
            </a:pPr>
            <a:r>
              <a:t>个人AI工作伙伴 · Agent Loop动态协作</a:t>
            </a:r>
          </a:p>
          <a:p>
            <a:pPr>
              <a:spcAft>
                <a:spcPts val="480"/>
              </a:spcAft>
              <a:defRPr sz="1600">
                <a:solidFill>
                  <a:srgbClr val="D8E0EE"/>
                </a:solidFill>
                <a:latin typeface="Microsoft YaHei"/>
              </a:defRPr>
            </a:pPr>
            <a:r>
              <a:t>场景化路由 · 原生工具链</a:t>
            </a:r>
          </a:p>
          <a:p>
            <a:pPr>
              <a:spcAft>
                <a:spcPts val="480"/>
              </a:spcAft>
              <a:defRPr sz="1600">
                <a:solidFill>
                  <a:srgbClr val="D8E0EE"/>
                </a:solidFill>
                <a:latin typeface="Microsoft YaHei"/>
              </a:defRPr>
            </a:pPr>
            <a:r>
              <a:t>三层记忆 · Thinking Map + Action 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291840"/>
            <a:ext cx="5303520" cy="3200400"/>
          </a:xfrm>
          <a:prstGeom prst="roundRect">
            <a:avLst/>
          </a:prstGeom>
          <a:solidFill>
            <a:srgbClr val="14203C"/>
          </a:solidFill>
          <a:ln w="25400">
            <a:solidFill>
              <a:srgbClr val="A05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2920" y="3474720"/>
            <a:ext cx="548640" cy="548640"/>
          </a:xfrm>
          <a:prstGeom prst="ellipse">
            <a:avLst/>
          </a:prstGeom>
          <a:solidFill>
            <a:srgbClr val="A05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520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05AE0"/>
                </a:solidFill>
                <a:latin typeface="Microsoft YaHei"/>
              </a:defRPr>
            </a:pPr>
            <a:r>
              <a:t>OpenClaw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1480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375K GitHub Stars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Gateway网关架构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20+ 渠道接入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插件系统，社区生态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知识库/RAG支持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多模型路由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开源，可自部署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291840"/>
            <a:ext cx="5303520" cy="3200400"/>
          </a:xfrm>
          <a:prstGeom prst="roundRect">
            <a:avLst/>
          </a:prstGeom>
          <a:solidFill>
            <a:srgbClr val="14203C"/>
          </a:solidFill>
          <a:ln w="2540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29400" y="3474720"/>
            <a:ext cx="548640" cy="548640"/>
          </a:xfrm>
          <a:prstGeom prst="ellipse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520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07A"/>
                </a:solidFill>
                <a:latin typeface="Microsoft YaHei"/>
              </a:defRPr>
            </a:pPr>
            <a:r>
              <a:t>坐山客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11480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个人AI工作伙伴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Agent Loop + 动态协作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场景化路由（隔离上下文）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原生工具链（非插件）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三层记忆体系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Thinking Map + Action Map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▸ 深度定制，源码级扩展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20260529_164921_905322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>
              <a:alpha val="CC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09728" cy="109728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0C040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国际 AI Agent 巨头深度分析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114800"/>
            <a:ext cx="320040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99AA"/>
                </a:solidFill>
                <a:latin typeface="Microsoft YaHei"/>
              </a:defRPr>
            </a:pPr>
            <a:r>
              <a:t>OpenAI Agents SDK · Anthropic Claude · Google Gemini + ADK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OpenAI Agents SDK vs 坐山客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"/>
            <a:ext cx="228600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731520"/>
            <a:ext cx="5029200" cy="2286000"/>
          </a:xfrm>
          <a:prstGeom prst="roundRect">
            <a:avLst/>
          </a:prstGeom>
          <a:solidFill>
            <a:srgbClr val="1A2A4A"/>
          </a:solidFill>
          <a:ln w="25400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C040"/>
                </a:solidFill>
                <a:latin typeface="Microsoft YaHei"/>
              </a:defRPr>
            </a:pPr>
            <a:r>
              <a:t>🔶 OpenAI Agents SDK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D8E0EE"/>
                </a:solidFill>
                <a:latin typeface="Microsoft YaHei"/>
              </a:defRPr>
            </a:pPr>
            <a:r>
              <a:t>Agent Loop · Handoffs多Agent交接</a:t>
            </a:r>
          </a:p>
          <a:p>
            <a:pPr>
              <a:spcAft>
                <a:spcPts val="480"/>
              </a:spcAft>
              <a:defRPr sz="1600">
                <a:solidFill>
                  <a:srgbClr val="D8E0EE"/>
                </a:solidFill>
                <a:latin typeface="Microsoft YaHei"/>
              </a:defRPr>
            </a:pPr>
            <a:r>
              <a:t>Guardrails安全护栏 · Sandbox隔离沙箱</a:t>
            </a:r>
          </a:p>
          <a:p>
            <a:pPr>
              <a:spcAft>
                <a:spcPts val="480"/>
              </a:spcAft>
              <a:defRPr sz="1600">
                <a:solidFill>
                  <a:srgbClr val="D8E0EE"/>
                </a:solidFill>
                <a:latin typeface="Microsoft YaHei"/>
              </a:defRPr>
            </a:pPr>
            <a:r>
              <a:t>Tracing→评估→微调闭环 · Realtime Voice</a:t>
            </a:r>
          </a:p>
        </p:txBody>
      </p:sp>
      <p:sp>
        <p:nvSpPr>
          <p:cNvPr id="9" name="Oval 8"/>
          <p:cNvSpPr/>
          <p:nvPr/>
        </p:nvSpPr>
        <p:spPr>
          <a:xfrm>
            <a:off x="5394960" y="1463040"/>
            <a:ext cx="1280160" cy="1280160"/>
          </a:xfrm>
          <a:prstGeom prst="ellipse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731520"/>
            <a:ext cx="5029200" cy="2286000"/>
          </a:xfrm>
          <a:prstGeom prst="roundRect">
            <a:avLst/>
          </a:prstGeom>
          <a:solidFill>
            <a:srgbClr val="1A2A4A"/>
          </a:solidFill>
          <a:ln w="2540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914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07A"/>
                </a:solidFill>
                <a:latin typeface="Microsoft YaHei"/>
              </a:defRPr>
            </a:pPr>
            <a:r>
              <a:t>🟢 坐山客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4630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D8E0EE"/>
                </a:solidFill>
                <a:latin typeface="Microsoft YaHei"/>
              </a:defRPr>
            </a:pPr>
            <a:r>
              <a:t>Agent Loop + 动态协作</a:t>
            </a:r>
          </a:p>
          <a:p>
            <a:pPr>
              <a:spcAft>
                <a:spcPts val="480"/>
              </a:spcAft>
              <a:defRPr sz="1600">
                <a:solidFill>
                  <a:srgbClr val="D8E0EE"/>
                </a:solidFill>
                <a:latin typeface="Microsoft YaHei"/>
              </a:defRPr>
            </a:pPr>
            <a:r>
              <a:t>Supervisor/Worker模式</a:t>
            </a:r>
          </a:p>
          <a:p>
            <a:pPr>
              <a:spcAft>
                <a:spcPts val="480"/>
              </a:spcAft>
              <a:defRPr sz="1600">
                <a:solidFill>
                  <a:srgbClr val="D8E0EE"/>
                </a:solidFill>
                <a:latin typeface="Microsoft YaHei"/>
              </a:defRPr>
            </a:pPr>
            <a:r>
              <a:t>Action Map + Thinking Map · 模型无关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291840"/>
            <a:ext cx="5303520" cy="3200400"/>
          </a:xfrm>
          <a:prstGeom prst="roundRect">
            <a:avLst/>
          </a:prstGeom>
          <a:solidFill>
            <a:srgbClr val="14203C"/>
          </a:solidFill>
          <a:ln w="25400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2920" y="3474720"/>
            <a:ext cx="548640" cy="548640"/>
          </a:xfrm>
          <a:prstGeom prst="ellipse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520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C040"/>
                </a:solidFill>
                <a:latin typeface="Microsoft YaHei"/>
              </a:defRPr>
            </a:pPr>
            <a:r>
              <a:t>OpenAI Agents SDK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1480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✅ Agent Loop 自动处理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✅ Handoffs 多Agent交接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✅ Guardrails 安全护栏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✅ Sandbox Agent 隔离沙箱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✅ Tracing→评估→微调闭环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✅ Realtime Voice 语音Agent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❌ 仅OpenAI模型，数据在云端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291840"/>
            <a:ext cx="5303520" cy="3200400"/>
          </a:xfrm>
          <a:prstGeom prst="roundRect">
            <a:avLst/>
          </a:prstGeom>
          <a:solidFill>
            <a:srgbClr val="14203C"/>
          </a:solidFill>
          <a:ln w="2540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29400" y="3474720"/>
            <a:ext cx="548640" cy="548640"/>
          </a:xfrm>
          <a:prstGeom prst="ellipse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520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07A"/>
                </a:solidFill>
                <a:latin typeface="Microsoft YaHei"/>
              </a:defRPr>
            </a:pPr>
            <a:r>
              <a:t>坐山客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11480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✅ Agent Loop + 动态协作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✅ Supervisor/Worker 模式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❌ 无显式Guardrails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❌ 代码执行无隔离沙箱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✅ Action Map + Thinking Map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❌ 无语音能力</a:t>
            </a:r>
          </a:p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✅ 模型无关，数据完全本地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Anthropic（Claude）&amp; Google（Gemini）vs 坐山客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"/>
            <a:ext cx="228600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731520"/>
            <a:ext cx="3657600" cy="2286000"/>
          </a:xfrm>
          <a:prstGeom prst="roundRect">
            <a:avLst/>
          </a:prstGeom>
          <a:solidFill>
            <a:srgbClr val="1A2A4A"/>
          </a:solidFill>
          <a:ln w="25400">
            <a:solidFill>
              <a:srgbClr val="F0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l_6ca3b1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68680"/>
            <a:ext cx="3383280" cy="1463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2423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▲ Anthropic 官网首页截图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731520"/>
            <a:ext cx="3657600" cy="2286000"/>
          </a:xfrm>
          <a:prstGeom prst="roundRect">
            <a:avLst/>
          </a:prstGeom>
          <a:solidFill>
            <a:srgbClr val="1A2A4A"/>
          </a:solidFill>
          <a:ln w="25400">
            <a:solidFill>
              <a:srgbClr val="309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9144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090F0"/>
                </a:solidFill>
                <a:latin typeface="Microsoft YaHei"/>
              </a:defRPr>
            </a:pPr>
            <a:r>
              <a:t>🔵 Google Gemini + ADK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3716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  <a:defRPr sz="1500">
                <a:solidFill>
                  <a:srgbClr val="D8E0EE"/>
                </a:solidFill>
                <a:latin typeface="Microsoft YaHei"/>
              </a:defRPr>
            </a:pPr>
            <a:r>
              <a:t>原生多模态（图/视频/音频）</a:t>
            </a:r>
          </a:p>
          <a:p>
            <a:pPr>
              <a:spcAft>
                <a:spcPts val="450"/>
              </a:spcAft>
              <a:defRPr sz="1500">
                <a:solidFill>
                  <a:srgbClr val="D8E0EE"/>
                </a:solidFill>
                <a:latin typeface="Microsoft YaHei"/>
              </a:defRPr>
            </a:pPr>
            <a:r>
              <a:t>A2A Agent通信协议</a:t>
            </a:r>
          </a:p>
          <a:p>
            <a:pPr>
              <a:spcAft>
                <a:spcPts val="450"/>
              </a:spcAft>
              <a:defRPr sz="1500">
                <a:solidFill>
                  <a:srgbClr val="D8E0EE"/>
                </a:solidFill>
                <a:latin typeface="Microsoft YaHei"/>
              </a:defRPr>
            </a:pPr>
            <a:r>
              <a:t>Project Mariner 浏览器操控</a:t>
            </a:r>
          </a:p>
          <a:p>
            <a:pPr>
              <a:spcAft>
                <a:spcPts val="450"/>
              </a:spcAft>
              <a:defRPr sz="1500">
                <a:solidFill>
                  <a:srgbClr val="D8E0EE"/>
                </a:solidFill>
                <a:latin typeface="Microsoft YaHei"/>
              </a:defRPr>
            </a:pPr>
            <a:r>
              <a:t>ADK开源框架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731520"/>
            <a:ext cx="3657600" cy="2286000"/>
          </a:xfrm>
          <a:prstGeom prst="roundRect">
            <a:avLst/>
          </a:prstGeom>
          <a:solidFill>
            <a:srgbClr val="1A2A4A"/>
          </a:solidFill>
          <a:ln w="2540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9144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07A"/>
                </a:solidFill>
                <a:latin typeface="Microsoft YaHei"/>
              </a:defRPr>
            </a:pPr>
            <a:r>
              <a:t>🟢 坐山客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3716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  <a:defRPr sz="1500">
                <a:solidFill>
                  <a:srgbClr val="D8E0EE"/>
                </a:solidFill>
                <a:latin typeface="Microsoft YaHei"/>
              </a:defRPr>
            </a:pPr>
            <a:r>
              <a:t>模型无关 · 自由切换</a:t>
            </a:r>
          </a:p>
          <a:p>
            <a:pPr>
              <a:spcAft>
                <a:spcPts val="450"/>
              </a:spcAft>
              <a:defRPr sz="1500">
                <a:solidFill>
                  <a:srgbClr val="D8E0EE"/>
                </a:solidFill>
                <a:latin typeface="Microsoft YaHei"/>
              </a:defRPr>
            </a:pPr>
            <a:r>
              <a:t>完全本地私有</a:t>
            </a:r>
          </a:p>
          <a:p>
            <a:pPr>
              <a:spcAft>
                <a:spcPts val="450"/>
              </a:spcAft>
              <a:defRPr sz="1500">
                <a:solidFill>
                  <a:srgbClr val="D8E0EE"/>
                </a:solidFill>
                <a:latin typeface="Microsoft YaHei"/>
              </a:defRPr>
            </a:pPr>
            <a:r>
              <a:t>三层记忆体系</a:t>
            </a:r>
          </a:p>
          <a:p>
            <a:pPr>
              <a:spcAft>
                <a:spcPts val="450"/>
              </a:spcAft>
              <a:defRPr sz="1500">
                <a:solidFill>
                  <a:srgbClr val="D8E0EE"/>
                </a:solidFill>
                <a:latin typeface="Microsoft YaHei"/>
              </a:defRPr>
            </a:pPr>
            <a:r>
              <a:t>Thinking Map + Action Map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291840"/>
            <a:ext cx="3657600" cy="3474720"/>
          </a:xfrm>
          <a:prstGeom prst="roundRect">
            <a:avLst/>
          </a:prstGeom>
          <a:solidFill>
            <a:srgbClr val="14203C"/>
          </a:solidFill>
          <a:ln w="25400">
            <a:solidFill>
              <a:srgbClr val="F0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2920" y="3474720"/>
            <a:ext cx="548640" cy="548640"/>
          </a:xfrm>
          <a:prstGeom prst="ellipse">
            <a:avLst/>
          </a:prstGeom>
          <a:solidFill>
            <a:srgbClr val="F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520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7A3A"/>
                </a:solidFill>
                <a:latin typeface="Microsoft YaHei"/>
              </a:defRPr>
            </a:pPr>
            <a:r>
              <a:t>Anthropic Claude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14800"/>
            <a:ext cx="3108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D8E0EE"/>
                </a:solidFill>
                <a:latin typeface="Microsoft YaHei"/>
              </a:defRPr>
            </a:pPr>
            <a:r>
              <a:t>✅ Computer Use 操控电脑</a:t>
            </a:r>
          </a:p>
          <a:p>
            <a:pPr>
              <a:spcAft>
                <a:spcPts val="600"/>
              </a:spcAft>
              <a:defRPr sz="2000">
                <a:solidFill>
                  <a:srgbClr val="D8E0EE"/>
                </a:solidFill>
                <a:latin typeface="Microsoft YaHei"/>
              </a:defRPr>
            </a:pPr>
            <a:r>
              <a:t>✅ Evaluator-Optimizer 模式</a:t>
            </a:r>
          </a:p>
          <a:p>
            <a:pPr>
              <a:spcAft>
                <a:spcPts val="600"/>
              </a:spcAft>
              <a:defRPr sz="2000">
                <a:solidFill>
                  <a:srgbClr val="D8E0EE"/>
                </a:solidFill>
                <a:latin typeface="Microsoft YaHei"/>
              </a:defRPr>
            </a:pPr>
            <a:r>
              <a:t>✅ MCP协议发明者</a:t>
            </a:r>
          </a:p>
          <a:p>
            <a:pPr>
              <a:spcAft>
                <a:spcPts val="600"/>
              </a:spcAft>
              <a:defRPr sz="2000">
                <a:solidFill>
                  <a:srgbClr val="D8E0EE"/>
                </a:solidFill>
                <a:latin typeface="Microsoft YaHei"/>
              </a:defRPr>
            </a:pPr>
            <a:r>
              <a:t>✅ 顶级模型+长上下文</a:t>
            </a:r>
          </a:p>
          <a:p>
            <a:pPr>
              <a:spcAft>
                <a:spcPts val="600"/>
              </a:spcAft>
              <a:defRPr sz="2000">
                <a:solidFill>
                  <a:srgbClr val="D8E0EE"/>
                </a:solidFill>
                <a:latin typeface="Microsoft YaHei"/>
              </a:defRPr>
            </a:pPr>
            <a:r>
              <a:t>❌ 仅Claude模型，数据云端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291840"/>
            <a:ext cx="3657600" cy="3474720"/>
          </a:xfrm>
          <a:prstGeom prst="roundRect">
            <a:avLst/>
          </a:prstGeom>
          <a:solidFill>
            <a:srgbClr val="14203C"/>
          </a:solidFill>
          <a:ln w="25400">
            <a:solidFill>
              <a:srgbClr val="309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34840" y="3474720"/>
            <a:ext cx="548640" cy="548640"/>
          </a:xfrm>
          <a:prstGeom prst="ellipse">
            <a:avLst/>
          </a:prstGeom>
          <a:solidFill>
            <a:srgbClr val="309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520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090F0"/>
                </a:solidFill>
                <a:latin typeface="Microsoft YaHei"/>
              </a:defRPr>
            </a:pPr>
            <a:r>
              <a:t>Google Gemini + ADK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114800"/>
            <a:ext cx="3108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D8E0EE"/>
                </a:solidFill>
                <a:latin typeface="Microsoft YaHei"/>
              </a:defRPr>
            </a:pPr>
            <a:r>
              <a:t>✅ 原生多模态（图/视频/音频）</a:t>
            </a:r>
          </a:p>
          <a:p>
            <a:pPr>
              <a:spcAft>
                <a:spcPts val="600"/>
              </a:spcAft>
              <a:defRPr sz="2000">
                <a:solidFill>
                  <a:srgbClr val="D8E0EE"/>
                </a:solidFill>
                <a:latin typeface="Microsoft YaHei"/>
              </a:defRPr>
            </a:pPr>
            <a:r>
              <a:t>✅ A2A Agent通信协议</a:t>
            </a:r>
          </a:p>
          <a:p>
            <a:pPr>
              <a:spcAft>
                <a:spcPts val="600"/>
              </a:spcAft>
              <a:defRPr sz="2000">
                <a:solidFill>
                  <a:srgbClr val="D8E0EE"/>
                </a:solidFill>
                <a:latin typeface="Microsoft YaHei"/>
              </a:defRPr>
            </a:pPr>
            <a:r>
              <a:t>✅ Project Mariner 浏览器操控</a:t>
            </a:r>
          </a:p>
          <a:p>
            <a:pPr>
              <a:spcAft>
                <a:spcPts val="600"/>
              </a:spcAft>
              <a:defRPr sz="2000">
                <a:solidFill>
                  <a:srgbClr val="D8E0EE"/>
                </a:solidFill>
                <a:latin typeface="Microsoft YaHei"/>
              </a:defRPr>
            </a:pPr>
            <a:r>
              <a:t>✅ ADK开源框架</a:t>
            </a:r>
          </a:p>
          <a:p>
            <a:pPr>
              <a:spcAft>
                <a:spcPts val="600"/>
              </a:spcAft>
              <a:defRPr sz="2000">
                <a:solidFill>
                  <a:srgbClr val="D8E0EE"/>
                </a:solidFill>
                <a:latin typeface="Microsoft YaHei"/>
              </a:defRPr>
            </a:pPr>
            <a:r>
              <a:t>❌ 仅Gemini模型，数据云端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291840"/>
            <a:ext cx="3657600" cy="3474720"/>
          </a:xfrm>
          <a:prstGeom prst="roundRect">
            <a:avLst/>
          </a:prstGeom>
          <a:solidFill>
            <a:srgbClr val="14203C"/>
          </a:solidFill>
          <a:ln w="2540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66760" y="3474720"/>
            <a:ext cx="548640" cy="548640"/>
          </a:xfrm>
          <a:prstGeom prst="ellipse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520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07A"/>
                </a:solidFill>
                <a:latin typeface="Microsoft YaHei"/>
              </a:defRPr>
            </a:pPr>
            <a:r>
              <a:t>坐山客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114800"/>
            <a:ext cx="3108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D8E0EE"/>
                </a:solidFill>
                <a:latin typeface="Microsoft YaHei"/>
              </a:defRPr>
            </a:pPr>
            <a:r>
              <a:t>❌ 无Computer Use</a:t>
            </a:r>
          </a:p>
          <a:p>
            <a:pPr>
              <a:spcAft>
                <a:spcPts val="600"/>
              </a:spcAft>
              <a:defRPr sz="2000">
                <a:solidFill>
                  <a:srgbClr val="D8E0EE"/>
                </a:solidFill>
                <a:latin typeface="Microsoft YaHei"/>
              </a:defRPr>
            </a:pPr>
            <a:r>
              <a:t>❌ 无Evaluator-Optimizer</a:t>
            </a:r>
          </a:p>
          <a:p>
            <a:pPr>
              <a:spcAft>
                <a:spcPts val="600"/>
              </a:spcAft>
              <a:defRPr sz="2000">
                <a:solidFill>
                  <a:srgbClr val="D8E0EE"/>
                </a:solidFill>
                <a:latin typeface="Microsoft YaHei"/>
              </a:defRPr>
            </a:pPr>
            <a:r>
              <a:t>❌ 不支持MCP/A2A协议</a:t>
            </a:r>
          </a:p>
          <a:p>
            <a:pPr>
              <a:spcAft>
                <a:spcPts val="600"/>
              </a:spcAft>
              <a:defRPr sz="2000">
                <a:solidFill>
                  <a:srgbClr val="D8E0EE"/>
                </a:solidFill>
                <a:latin typeface="Microsoft YaHei"/>
              </a:defRPr>
            </a:pPr>
            <a:r>
              <a:t>✅ 模型无关，自由切换</a:t>
            </a:r>
          </a:p>
          <a:p>
            <a:pPr>
              <a:spcAft>
                <a:spcPts val="600"/>
              </a:spcAft>
              <a:defRPr sz="2000">
                <a:solidFill>
                  <a:srgbClr val="D8E0EE"/>
                </a:solidFill>
                <a:latin typeface="Microsoft YaHei"/>
              </a:defRPr>
            </a:pPr>
            <a:r>
              <a:t>✅ 完全本地私有+三层记忆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核心差距总览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"/>
            <a:ext cx="228600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731520"/>
          <a:ext cx="9144000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</a:tblGrid>
              <a:tr h="360045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能力维度</a:t>
                      </a:r>
                    </a:p>
                  </a:txBody>
                  <a:tcPr anchor="ctr">
                    <a:solidFill>
                      <a:srgbClr val="0099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OpenAI</a:t>
                      </a:r>
                    </a:p>
                  </a:txBody>
                  <a:tcPr anchor="ctr">
                    <a:solidFill>
                      <a:srgbClr val="0099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Anthropic</a:t>
                      </a:r>
                    </a:p>
                  </a:txBody>
                  <a:tcPr anchor="ctr">
                    <a:solidFill>
                      <a:srgbClr val="0099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Google</a:t>
                      </a:r>
                    </a:p>
                  </a:txBody>
                  <a:tcPr anchor="ctr">
                    <a:solidFill>
                      <a:srgbClr val="0099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坐山客</a:t>
                      </a:r>
                    </a:p>
                  </a:txBody>
                  <a:tcPr anchor="ctr">
                    <a:solidFill>
                      <a:srgbClr val="0099BB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Agent Loop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多Agent协作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✅ Handoffs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✅ Orchestrator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✅ ADK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✅ Supervisor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沙箱执行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✅ Sandbox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Guardrails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Computer Use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✅ Mariner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语音Agent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✅ Realtime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MCP协议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✅ 发明者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A2A协议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✅ 发明者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Tracing闭环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⚠️ 部分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多模态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✅ 原生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⚠️ 依赖模型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三层记忆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✅ 独有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Thinking Map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✅ 独有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Action Map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✅ 独有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浏览器拨测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✅ 独有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完全私有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✅ 独有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坐山客的独特优势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"/>
            <a:ext cx="228600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g_20260529_165503_477109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3474720" cy="2011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2834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99AA"/>
                </a:solidFill>
                <a:latin typeface="Microsoft YaHei"/>
              </a:defRPr>
            </a:pPr>
            <a:r>
              <a:t>▲ AI Agent 生态全景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822960"/>
            <a:ext cx="1828800" cy="2651760"/>
          </a:xfrm>
          <a:prstGeom prst="roundRect">
            <a:avLst/>
          </a:prstGeom>
          <a:solidFill>
            <a:srgbClr val="1A2A4A"/>
          </a:solidFill>
          <a:ln w="2540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09160" y="960120"/>
            <a:ext cx="502920" cy="502920"/>
          </a:xfrm>
          <a:prstGeom prst="ellipse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508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07A"/>
                </a:solidFill>
                <a:latin typeface="Microsoft YaHei"/>
              </a:defRPr>
            </a:pPr>
            <a:r>
              <a:t>三层记忆体系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828800"/>
            <a:ext cx="1097280" cy="2540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201168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>
                <a:solidFill>
                  <a:srgbClr val="D8E0EE"/>
                </a:solidFill>
                <a:latin typeface="Microsoft YaHei"/>
              </a:defRPr>
            </a:pPr>
            <a:r>
              <a:t>Identity + 长期记忆</a:t>
            </a:r>
          </a:p>
          <a:p>
            <a:pPr>
              <a:spcAft>
                <a:spcPts val="390"/>
              </a:spcAft>
              <a:defRPr sz="1300">
                <a:solidFill>
                  <a:srgbClr val="D8E0EE"/>
                </a:solidFill>
                <a:latin typeface="Microsoft YaHei"/>
              </a:defRPr>
            </a:pPr>
            <a:r>
              <a:t>+ 上下文记忆</a:t>
            </a:r>
          </a:p>
          <a:p>
            <a:pPr>
              <a:spcAft>
                <a:spcPts val="390"/>
              </a:spcAft>
              <a:defRPr sz="1300">
                <a:solidFill>
                  <a:srgbClr val="D8E0EE"/>
                </a:solidFill>
                <a:latin typeface="Microsoft YaHei"/>
              </a:defRPr>
            </a:pPr>
            <a:r>
              <a:t>支持增删改查强化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822960"/>
            <a:ext cx="1828800" cy="2651760"/>
          </a:xfrm>
          <a:prstGeom prst="roundRect">
            <a:avLst/>
          </a:prstGeom>
          <a:solidFill>
            <a:srgbClr val="1A2A4A"/>
          </a:solidFill>
          <a:ln w="25400">
            <a:solidFill>
              <a:srgbClr val="309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20840" y="960120"/>
            <a:ext cx="502920" cy="502920"/>
          </a:xfrm>
          <a:prstGeom prst="ellipse">
            <a:avLst/>
          </a:prstGeom>
          <a:solidFill>
            <a:srgbClr val="309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🗺️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508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090F0"/>
                </a:solidFill>
                <a:latin typeface="Microsoft YaHei"/>
              </a:defRPr>
            </a:pPr>
            <a:r>
              <a:t>Thinking Map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1097280" cy="25400"/>
          </a:xfrm>
          <a:prstGeom prst="rect">
            <a:avLst/>
          </a:prstGeom>
          <a:solidFill>
            <a:srgbClr val="309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01168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>
                <a:solidFill>
                  <a:srgbClr val="D8E0EE"/>
                </a:solidFill>
                <a:latin typeface="Microsoft YaHei"/>
              </a:defRPr>
            </a:pPr>
            <a:r>
              <a:t>发散收敛思维导图</a:t>
            </a:r>
          </a:p>
          <a:p>
            <a:pPr>
              <a:spcAft>
                <a:spcPts val="390"/>
              </a:spcAft>
              <a:defRPr sz="1300">
                <a:solidFill>
                  <a:srgbClr val="D8E0EE"/>
                </a:solidFill>
                <a:latin typeface="Microsoft YaHei"/>
              </a:defRPr>
            </a:pPr>
            <a:r>
              <a:t>项目规划专用</a:t>
            </a:r>
          </a:p>
          <a:p>
            <a:pPr>
              <a:spcAft>
                <a:spcPts val="390"/>
              </a:spcAft>
              <a:defRPr sz="1300">
                <a:solidFill>
                  <a:srgbClr val="D8E0EE"/>
                </a:solidFill>
                <a:latin typeface="Microsoft YaHei"/>
              </a:defRPr>
            </a:pPr>
            <a:r>
              <a:t>自动生成优先级队列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822960"/>
            <a:ext cx="1828800" cy="2651760"/>
          </a:xfrm>
          <a:prstGeom prst="roundRect">
            <a:avLst/>
          </a:prstGeom>
          <a:solidFill>
            <a:srgbClr val="1A2A4A"/>
          </a:solidFill>
          <a:ln w="25400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32520" y="960120"/>
            <a:ext cx="502920" cy="502920"/>
          </a:xfrm>
          <a:prstGeom prst="ellipse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508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C040"/>
                </a:solidFill>
                <a:latin typeface="Microsoft YaHei"/>
              </a:defRPr>
            </a:pPr>
            <a:r>
              <a:t>Action Map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1828800"/>
            <a:ext cx="1097280" cy="254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01168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>
                <a:solidFill>
                  <a:srgbClr val="D8E0EE"/>
                </a:solidFill>
                <a:latin typeface="Microsoft YaHei"/>
              </a:defRPr>
            </a:pPr>
            <a:r>
              <a:t>架构自省可视化</a:t>
            </a:r>
          </a:p>
          <a:p>
            <a:pPr>
              <a:spcAft>
                <a:spcPts val="390"/>
              </a:spcAft>
              <a:defRPr sz="1300">
                <a:solidFill>
                  <a:srgbClr val="D8E0EE"/>
                </a:solidFill>
                <a:latin typeface="Microsoft YaHei"/>
              </a:defRPr>
            </a:pPr>
            <a:r>
              <a:t>进度追踪</a:t>
            </a:r>
          </a:p>
          <a:p>
            <a:pPr>
              <a:spcAft>
                <a:spcPts val="390"/>
              </a:spcAft>
              <a:defRPr sz="1300">
                <a:solidFill>
                  <a:srgbClr val="D8E0EE"/>
                </a:solidFill>
                <a:latin typeface="Microsoft YaHei"/>
              </a:defRPr>
            </a:pPr>
            <a:r>
              <a:t>系统状态一目了然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822960"/>
            <a:ext cx="1828800" cy="2651760"/>
          </a:xfrm>
          <a:prstGeom prst="roundRect">
            <a:avLst/>
          </a:prstGeom>
          <a:solidFill>
            <a:srgbClr val="1A2A4A"/>
          </a:solidFill>
          <a:ln w="25400">
            <a:solidFill>
              <a:srgbClr val="A05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744200" y="960120"/>
            <a:ext cx="502920" cy="502920"/>
          </a:xfrm>
          <a:prstGeom prst="ellipse">
            <a:avLst/>
          </a:prstGeom>
          <a:solidFill>
            <a:srgbClr val="A05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508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05AE0"/>
                </a:solidFill>
                <a:latin typeface="Microsoft YaHei"/>
              </a:defRPr>
            </a:pPr>
            <a:r>
              <a:t>浏览器拨测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5600" y="1828800"/>
            <a:ext cx="1097280" cy="25400"/>
          </a:xfrm>
          <a:prstGeom prst="rect">
            <a:avLst/>
          </a:prstGeom>
          <a:solidFill>
            <a:srgbClr val="A05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0" y="201168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>
                <a:solidFill>
                  <a:srgbClr val="D8E0EE"/>
                </a:solidFill>
                <a:latin typeface="Microsoft YaHei"/>
              </a:defRPr>
            </a:pPr>
            <a:r>
              <a:t>DOM/CSS/Console</a:t>
            </a:r>
          </a:p>
          <a:p>
            <a:pPr>
              <a:spcAft>
                <a:spcPts val="390"/>
              </a:spcAft>
              <a:defRPr sz="1300">
                <a:solidFill>
                  <a:srgbClr val="D8E0EE"/>
                </a:solidFill>
                <a:latin typeface="Microsoft YaHei"/>
              </a:defRPr>
            </a:pPr>
            <a:r>
              <a:t>Network全量验证</a:t>
            </a:r>
          </a:p>
          <a:p>
            <a:pPr>
              <a:spcAft>
                <a:spcPts val="390"/>
              </a:spcAft>
              <a:defRPr sz="1300">
                <a:solidFill>
                  <a:srgbClr val="D8E0EE"/>
                </a:solidFill>
                <a:latin typeface="Microsoft YaHei"/>
              </a:defRPr>
            </a:pPr>
            <a:r>
              <a:t>非简单网页浏览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0" y="3749040"/>
            <a:ext cx="1828800" cy="2651760"/>
          </a:xfrm>
          <a:prstGeom prst="roundRect">
            <a:avLst/>
          </a:prstGeom>
          <a:solidFill>
            <a:srgbClr val="1A2A4A"/>
          </a:solidFill>
          <a:ln w="25400">
            <a:solidFill>
              <a:srgbClr val="F0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709160" y="3886200"/>
            <a:ext cx="502920" cy="502920"/>
          </a:xfrm>
          <a:prstGeom prst="ellipse">
            <a:avLst/>
          </a:prstGeom>
          <a:solidFill>
            <a:srgbClr val="F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4434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7A3A"/>
                </a:solidFill>
                <a:latin typeface="Microsoft YaHei"/>
              </a:defRPr>
            </a:pPr>
            <a:r>
              <a:t>原生工具链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0" y="4754880"/>
            <a:ext cx="1097280" cy="25400"/>
          </a:xfrm>
          <a:prstGeom prst="rect">
            <a:avLst/>
          </a:prstGeom>
          <a:solidFill>
            <a:srgbClr val="F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0" y="493776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>
                <a:solidFill>
                  <a:srgbClr val="D8E0EE"/>
                </a:solidFill>
                <a:latin typeface="Microsoft YaHei"/>
              </a:defRPr>
            </a:pPr>
            <a:r>
              <a:t>代码执行/系统操作</a:t>
            </a:r>
          </a:p>
          <a:p>
            <a:pPr>
              <a:spcAft>
                <a:spcPts val="390"/>
              </a:spcAft>
              <a:defRPr sz="1300">
                <a:solidFill>
                  <a:srgbClr val="D8E0EE"/>
                </a:solidFill>
                <a:latin typeface="Microsoft YaHei"/>
              </a:defRPr>
            </a:pPr>
            <a:r>
              <a:t>搜索/文件/翻译</a:t>
            </a:r>
          </a:p>
          <a:p>
            <a:pPr>
              <a:spcAft>
                <a:spcPts val="390"/>
              </a:spcAft>
              <a:defRPr sz="1300">
                <a:solidFill>
                  <a:srgbClr val="D8E0EE"/>
                </a:solidFill>
                <a:latin typeface="Microsoft YaHei"/>
              </a:defRPr>
            </a:pPr>
            <a:r>
              <a:t>深度集成非插件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3749040"/>
            <a:ext cx="1828800" cy="2651760"/>
          </a:xfrm>
          <a:prstGeom prst="roundRect">
            <a:avLst/>
          </a:prstGeom>
          <a:solidFill>
            <a:srgbClr val="1A2A4A"/>
          </a:solidFill>
          <a:ln w="2540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720840" y="3886200"/>
            <a:ext cx="502920" cy="502920"/>
          </a:xfrm>
          <a:prstGeom prst="ellipse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434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07A"/>
                </a:solidFill>
                <a:latin typeface="Microsoft YaHei"/>
              </a:defRPr>
            </a:pPr>
            <a:r>
              <a:t>场景化路由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4754880"/>
            <a:ext cx="1097280" cy="2540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493776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>
                <a:solidFill>
                  <a:srgbClr val="D8E0EE"/>
                </a:solidFill>
                <a:latin typeface="Microsoft YaHei"/>
              </a:defRPr>
            </a:pPr>
            <a:r>
              <a:t>按场景隔离上下文</a:t>
            </a:r>
          </a:p>
          <a:p>
            <a:pPr>
              <a:spcAft>
                <a:spcPts val="390"/>
              </a:spcAft>
              <a:defRPr sz="1300">
                <a:solidFill>
                  <a:srgbClr val="D8E0EE"/>
                </a:solidFill>
                <a:latin typeface="Microsoft YaHei"/>
              </a:defRPr>
            </a:pPr>
            <a:r>
              <a:t>多任务并行不串扰</a:t>
            </a:r>
          </a:p>
          <a:p>
            <a:pPr>
              <a:spcAft>
                <a:spcPts val="390"/>
              </a:spcAft>
              <a:defRPr sz="1300">
                <a:solidFill>
                  <a:srgbClr val="D8E0EE"/>
                </a:solidFill>
                <a:latin typeface="Microsoft YaHei"/>
              </a:defRPr>
            </a:pPr>
            <a:r>
              <a:t>工具按需加载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3749040"/>
            <a:ext cx="1828800" cy="2651760"/>
          </a:xfrm>
          <a:prstGeom prst="roundRect">
            <a:avLst/>
          </a:prstGeom>
          <a:solidFill>
            <a:srgbClr val="1A2A4A"/>
          </a:solidFill>
          <a:ln w="25400">
            <a:solidFill>
              <a:srgbClr val="309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732520" y="3886200"/>
            <a:ext cx="502920" cy="502920"/>
          </a:xfrm>
          <a:prstGeom prst="ellipse">
            <a:avLst/>
          </a:prstGeom>
          <a:solidFill>
            <a:srgbClr val="309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434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090F0"/>
                </a:solidFill>
                <a:latin typeface="Microsoft YaHei"/>
              </a:defRPr>
            </a:pPr>
            <a:r>
              <a:t>完全私有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03920" y="4754880"/>
            <a:ext cx="1097280" cy="25400"/>
          </a:xfrm>
          <a:prstGeom prst="rect">
            <a:avLst/>
          </a:prstGeom>
          <a:solidFill>
            <a:srgbClr val="309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493776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>
                <a:solidFill>
                  <a:srgbClr val="D8E0EE"/>
                </a:solidFill>
                <a:latin typeface="Microsoft YaHei"/>
              </a:defRPr>
            </a:pPr>
            <a:r>
              <a:t>数据不出本地</a:t>
            </a:r>
          </a:p>
          <a:p>
            <a:pPr>
              <a:spcAft>
                <a:spcPts val="390"/>
              </a:spcAft>
              <a:defRPr sz="1300">
                <a:solidFill>
                  <a:srgbClr val="D8E0EE"/>
                </a:solidFill>
                <a:latin typeface="Microsoft YaHei"/>
              </a:defRPr>
            </a:pPr>
            <a:r>
              <a:t>无商业绑架</a:t>
            </a:r>
          </a:p>
          <a:p>
            <a:pPr>
              <a:spcAft>
                <a:spcPts val="390"/>
              </a:spcAft>
              <a:defRPr sz="1300">
                <a:solidFill>
                  <a:srgbClr val="D8E0EE"/>
                </a:solidFill>
                <a:latin typeface="Microsoft YaHei"/>
              </a:defRPr>
            </a:pPr>
            <a:r>
              <a:t>无计费无限流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149840" y="3749040"/>
            <a:ext cx="1828800" cy="2651760"/>
          </a:xfrm>
          <a:prstGeom prst="roundRect">
            <a:avLst/>
          </a:prstGeom>
          <a:solidFill>
            <a:srgbClr val="1A2A4A"/>
          </a:solidFill>
          <a:ln w="25400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744200" y="3886200"/>
            <a:ext cx="502920" cy="502920"/>
          </a:xfrm>
          <a:prstGeom prst="ellipse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4434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C040"/>
                </a:solidFill>
                <a:latin typeface="Microsoft YaHei"/>
              </a:defRPr>
            </a:pPr>
            <a:r>
              <a:t>模型无关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515600" y="4754880"/>
            <a:ext cx="1097280" cy="254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41280" y="493776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>
                <a:solidFill>
                  <a:srgbClr val="D8E0EE"/>
                </a:solidFill>
                <a:latin typeface="Microsoft YaHei"/>
              </a:defRPr>
            </a:pPr>
            <a:r>
              <a:t>不绑定任何模型</a:t>
            </a:r>
          </a:p>
          <a:p>
            <a:pPr>
              <a:spcAft>
                <a:spcPts val="390"/>
              </a:spcAft>
              <a:defRPr sz="1300">
                <a:solidFill>
                  <a:srgbClr val="D8E0EE"/>
                </a:solidFill>
                <a:latin typeface="Microsoft YaHei"/>
              </a:defRPr>
            </a:pPr>
            <a:r>
              <a:t>自由切换</a:t>
            </a:r>
          </a:p>
          <a:p>
            <a:pPr>
              <a:spcAft>
                <a:spcPts val="390"/>
              </a:spcAft>
              <a:defRPr sz="1300">
                <a:solidFill>
                  <a:srgbClr val="D8E0EE"/>
                </a:solidFill>
                <a:latin typeface="Microsoft YaHei"/>
              </a:defRPr>
            </a:pPr>
            <a:r>
              <a:t>想换就换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1148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最终结论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103120"/>
            <a:ext cx="274320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D8E0EE"/>
                </a:solidFill>
                <a:latin typeface="Microsoft YaHei"/>
              </a:defRPr>
            </a:pPr>
            <a:r>
              <a:t>✦ 国内平台强在「平台化」—— 零门槛搭建、插件生态、企业级服务，但数据在云端，受限于平台边界</a:t>
            </a:r>
          </a:p>
          <a:p>
            <a:pPr>
              <a:spcAft>
                <a:spcPts val="600"/>
              </a:spcAft>
              <a:defRPr sz="2000">
                <a:solidFill>
                  <a:srgbClr val="D8E0EE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D8E0EE"/>
                </a:solidFill>
                <a:latin typeface="Microsoft YaHei"/>
              </a:defRPr>
            </a:pPr>
            <a:r>
              <a:t>✦ 国际巨头强在「基础设施」—— 沙箱、安全、语音、协议、多模态、顶级模型，但绑定自家生态</a:t>
            </a:r>
          </a:p>
          <a:p>
            <a:pPr>
              <a:spcAft>
                <a:spcPts val="600"/>
              </a:spcAft>
              <a:defRPr sz="2000">
                <a:solidFill>
                  <a:srgbClr val="D8E0EE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D8E0EE"/>
                </a:solidFill>
                <a:latin typeface="Microsoft YaHei"/>
              </a:defRPr>
            </a:pPr>
            <a:r>
              <a:t>✦ 坐山客强在「个人深度」—— 三层记忆、思维工具、自省能力、场景隔离、完全私有</a:t>
            </a:r>
          </a:p>
          <a:p>
            <a:pPr>
              <a:spcAft>
                <a:spcPts val="600"/>
              </a:spcAft>
              <a:defRPr sz="2000">
                <a:solidFill>
                  <a:srgbClr val="D8E0EE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D8E0EE"/>
                </a:solidFill>
                <a:latin typeface="Microsoft YaHei"/>
              </a:defRPr>
            </a:pPr>
            <a:r>
              <a:t>✦ 三巨头做的是平台，服务成千上万的开发者在其上构建 Agent</a:t>
            </a:r>
          </a:p>
          <a:p>
            <a:pPr>
              <a:spcAft>
                <a:spcPts val="600"/>
              </a:spcAft>
              <a:defRPr sz="2000">
                <a:solidFill>
                  <a:srgbClr val="D8E0EE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D8E0EE"/>
                </a:solidFill>
                <a:latin typeface="Microsoft YaHei"/>
              </a:defRPr>
            </a:pPr>
            <a:r>
              <a:t>✦ 坐山客做的是伙伴，深度服务于一个人的工作流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5760720"/>
            <a:ext cx="4572000" cy="254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943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0C040"/>
                </a:solidFill>
                <a:latin typeface="Microsoft YaHei"/>
              </a:defRPr>
            </a:pPr>
            <a:r>
              <a:t>差距是真实的，但定位也是不同的。坐山客不需要跟 OpenAI 比沙箱——它需要的是把「个人 AI 伙伴」做到极致。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
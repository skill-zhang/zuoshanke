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BB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20260529_163218_608935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BB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73152" cy="4114800"/>
          </a:xfrm>
          <a:prstGeom prst="rect">
            <a:avLst/>
          </a:prstGeom>
          <a:solidFill>
            <a:srgbClr val="00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坐山客 vs 国内外 AI Agent 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00F0FF"/>
                </a:solidFill>
                <a:latin typeface="Microsoft YaHei"/>
              </a:defRPr>
            </a:pPr>
            <a:r>
              <a:t>深度能力对比分析报告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840480"/>
            <a:ext cx="32004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8899AA"/>
                </a:solidFill>
                <a:latin typeface="Microsoft YaHei"/>
              </a:defRPr>
            </a:pPr>
            <a:r>
              <a:t>基于官方文档、产品手册、白皮书的客观分析</a:t>
            </a:r>
          </a:p>
          <a:p>
            <a:pPr>
              <a:spcAft>
                <a:spcPts val="540"/>
              </a:spcAft>
              <a:defRPr sz="1800">
                <a:solidFill>
                  <a:srgbClr val="8899AA"/>
                </a:solidFill>
                <a:latin typeface="Microsoft YaHei"/>
              </a:defRPr>
            </a:pPr>
            <a:r>
              <a:t>覆盖国内平台（Coze/百炼/千帆/AutoGLM/OpenClaw）</a:t>
            </a:r>
          </a:p>
          <a:p>
            <a:pPr>
              <a:spcAft>
                <a:spcPts val="540"/>
              </a:spcAft>
              <a:defRPr sz="1800">
                <a:solidFill>
                  <a:srgbClr val="8899AA"/>
                </a:solidFill>
                <a:latin typeface="Microsoft YaHei"/>
              </a:defRPr>
            </a:pPr>
            <a:r>
              <a:t>与国际巨头（OpenAI/Anthropic/Google）的全面对比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99AA"/>
                </a:solidFill>
                <a:latin typeface="Microsoft YaHei"/>
              </a:defRPr>
            </a:pPr>
            <a:r>
              <a:t>2025年6月  |  坐山客研究团队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20260529_163218_608935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报告背景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822960"/>
            <a:ext cx="22860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651760" cy="502920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00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1645920"/>
            <a:ext cx="914400" cy="914400"/>
          </a:xfrm>
          <a:prstGeom prst="ellipse">
            <a:avLst/>
          </a:prstGeom>
          <a:solidFill>
            <a:srgbClr val="00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FF8C"/>
                </a:solidFill>
                <a:latin typeface="Microsoft YaHei"/>
              </a:defRPr>
            </a:pPr>
            <a:r>
              <a:t>行业背景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291840"/>
            <a:ext cx="1554480" cy="25400"/>
          </a:xfrm>
          <a:prstGeom prst="rect">
            <a:avLst/>
          </a:prstGeom>
          <a:solidFill>
            <a:srgbClr val="00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2103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AI Agent 领域快速发展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国内外平台百花齐放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坐山客作为开源个人AI伙伴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需要客观定位自身能力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371600"/>
            <a:ext cx="2651760" cy="502920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645920"/>
            <a:ext cx="914400" cy="914400"/>
          </a:xfrm>
          <a:prstGeom prst="ellipse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FFF"/>
                </a:solidFill>
                <a:latin typeface="Microsoft YaHei"/>
              </a:defRPr>
            </a:pPr>
            <a:r>
              <a:t>覆盖范围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86200" y="3291840"/>
            <a:ext cx="1554480" cy="2540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3657600"/>
            <a:ext cx="2103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国内：Coze/百炼/千帆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     AutoGLM/OpenClaw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国际：OpenAI/Anthropic/Google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共 8 个平台全面对比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2651760" cy="502920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6600" y="1645920"/>
            <a:ext cx="914400" cy="914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Microsoft YaHei"/>
              </a:defRPr>
            </a:pPr>
            <a:r>
              <a:t>分析维度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3291840"/>
            <a:ext cx="155448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657600"/>
            <a:ext cx="2103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架构哲学与设计理念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核心能力与工具生态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多Agent协作与记忆体系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私有化与可扩展性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371600"/>
            <a:ext cx="2651760" cy="502920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B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66960" y="1645920"/>
            <a:ext cx="914400" cy="914400"/>
          </a:xfrm>
          <a:prstGeom prst="ellipse">
            <a:avLst/>
          </a:prstGeom>
          <a:solidFill>
            <a:srgbClr val="BF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F5AFF"/>
                </a:solidFill>
                <a:latin typeface="Microsoft YaHei"/>
              </a:defRPr>
            </a:pPr>
            <a:r>
              <a:t>数据来源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46920" y="3291840"/>
            <a:ext cx="1554480" cy="25400"/>
          </a:xfrm>
          <a:prstGeom prst="rect">
            <a:avLst/>
          </a:prstGeom>
          <a:solidFill>
            <a:srgbClr val="BF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3657600"/>
            <a:ext cx="2103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官方产品文档 &amp; 白皮书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GitHub 开源仓库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官网产品界面截图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技术博客与研究报告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CC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20260529_163218_608935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CC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926080"/>
            <a:ext cx="137160" cy="109728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F0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国内 AI Agent 平台深度分析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14800"/>
            <a:ext cx="32004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AA"/>
                </a:solidFill>
                <a:latin typeface="Microsoft YaHei"/>
              </a:defRPr>
            </a:pPr>
            <a:r>
              <a:t>Coze · 阿里百炼 · 百度千帆 · 智谱AutoGLM · OpenClaw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20260529_163218_608935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国内主流 AI Agent 平台一览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914400"/>
          <a:ext cx="969264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2194560"/>
                <a:gridCol w="2743200"/>
                <a:gridCol w="164592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平台</a:t>
                      </a:r>
                    </a:p>
                  </a:txBody>
                  <a:tcPr anchor="ctr">
                    <a:solidFill>
                      <a:srgbClr val="00B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厂商</a:t>
                      </a:r>
                    </a:p>
                  </a:txBody>
                  <a:tcPr anchor="ctr">
                    <a:solidFill>
                      <a:srgbClr val="00B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定位</a:t>
                      </a:r>
                    </a:p>
                  </a:txBody>
                  <a:tcPr anchor="ctr">
                    <a:solidFill>
                      <a:srgbClr val="00B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核心卖点</a:t>
                      </a:r>
                    </a:p>
                  </a:txBody>
                  <a:tcPr anchor="ctr">
                    <a:solidFill>
                      <a:srgbClr val="00B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开源</a:t>
                      </a:r>
                    </a:p>
                  </a:txBody>
                  <a:tcPr anchor="ctr">
                    <a:solidFill>
                      <a:srgbClr val="00BBD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Coze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(扣子)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字节跳动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零代码AI智能体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开发平台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可视化拖拽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工作流编排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插件市场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Apache 2.0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百炼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Model Studio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阿里云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一站式大模型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开发平台(MaaS)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千问全系列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模型微调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企业级服务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千帆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AppBuilder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百度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Agent为核心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企业级平台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文心系列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MCP协议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安全合规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AutoGLM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智谱AI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端侧自主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操控Agent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手机操控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深度搜索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报告生成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Open-AutoGLM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开源社区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个人AI助手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网关架构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375K Stars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20+渠道接入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Gateway模式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开源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20260529_163218_608935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Coze（扣子） vs 坐山客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94360"/>
            <a:ext cx="22860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al_c1c3df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320040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▲ Coze 官网首页截图</a:t>
            </a:r>
          </a:p>
        </p:txBody>
      </p:sp>
      <p:pic>
        <p:nvPicPr>
          <p:cNvPr id="10" name="Picture 9" descr="img_20260529_160249_5313263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822960"/>
            <a:ext cx="1828800" cy="1828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74320" y="3200400"/>
            <a:ext cx="5303520" cy="329184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" y="3429000"/>
            <a:ext cx="594360" cy="594360"/>
          </a:xfrm>
          <a:prstGeom prst="ellipse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74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FFF"/>
                </a:solidFill>
                <a:latin typeface="Microsoft YaHei"/>
              </a:defRPr>
            </a:pPr>
            <a:r>
              <a:t>Coze（扣子）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零代码可视化拖拽搭建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工作流编排（静态DAG）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插件市场，一键接入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记忆：简单KV存储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数据在字节跳动云端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平台思维：服务千万用户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0" y="4389120"/>
            <a:ext cx="1097280" cy="10972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00400"/>
            <a:ext cx="5303520" cy="329184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00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0" y="3429000"/>
            <a:ext cx="594360" cy="594360"/>
          </a:xfrm>
          <a:prstGeom prst="ellipse">
            <a:avLst/>
          </a:prstGeom>
          <a:solidFill>
            <a:srgbClr val="00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474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8C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11480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纯对话交互，无需搭建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动态多Agent协作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原生工具链（拨测/代码/系统）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三层记忆体系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数据不出本地，完全私有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伙伴思维：深度服务一个人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20260529_163218_608935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阿里百炼（Model Studio） vs 坐山客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94360"/>
            <a:ext cx="22860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914400"/>
            <a:ext cx="5303520" cy="548640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114300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188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Microsoft YaHei"/>
              </a:defRPr>
            </a:pPr>
            <a:r>
              <a:t>阿里百炼（Model Studio）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一站式MaaS平台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千问全系列+第三方模型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可视化流程编排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模型微调（SFT/CPT/DPO）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API兼容OpenAI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企业级计费/部署/评测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数据在阿里云，按量付费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0" y="3200400"/>
            <a:ext cx="1097280" cy="10972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914400"/>
            <a:ext cx="5303520" cy="548640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00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0" y="1143000"/>
            <a:ext cx="594360" cy="594360"/>
          </a:xfrm>
          <a:prstGeom prst="ellipse">
            <a:avLst/>
          </a:prstGeom>
          <a:solidFill>
            <a:srgbClr val="00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188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8C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个人AI工作伙伴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模型无关，自由切换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纯对话交互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无需微调，靠提示词+工具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原生工具链，非API封装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单用户深度定制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完全免费，数据完全本地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20260529_163218_608935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OpenClaw vs 坐山客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94360"/>
            <a:ext cx="22860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914400"/>
            <a:ext cx="5303520" cy="548640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B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1143000"/>
            <a:ext cx="594360" cy="594360"/>
          </a:xfrm>
          <a:prstGeom prst="ellipse">
            <a:avLst/>
          </a:prstGeom>
          <a:solidFill>
            <a:srgbClr val="BF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188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F5AFF"/>
                </a:solidFill>
                <a:latin typeface="Microsoft YaHei"/>
              </a:defRPr>
            </a:pPr>
            <a:r>
              <a:t>OpenClaw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375K GitHub Stars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Gateway网关架构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20+ 渠道接入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插件系统，社区生态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知识库/RAG支持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多模型路由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开源，可自部署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0" y="3200400"/>
            <a:ext cx="1097280" cy="10972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914400"/>
            <a:ext cx="5303520" cy="548640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00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0" y="1143000"/>
            <a:ext cx="594360" cy="594360"/>
          </a:xfrm>
          <a:prstGeom prst="ellipse">
            <a:avLst/>
          </a:prstGeom>
          <a:solidFill>
            <a:srgbClr val="00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188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8C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个人AI工作伙伴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Agent Loop + 动态协作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场景化路由（隔离上下文）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原生工具链（非插件）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三层记忆体系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Thinking Map + Action Map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深度定制，源码级扩展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CC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20260529_163218_608935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CC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926080"/>
            <a:ext cx="137160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D70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国际 AI Agent 巨头深度分析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14800"/>
            <a:ext cx="32004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AA"/>
                </a:solidFill>
                <a:latin typeface="Microsoft YaHei"/>
              </a:defRPr>
            </a:pPr>
            <a:r>
              <a:t>OpenAI Agents SDK · Anthropic Claude · Google Gemini + ADK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20260529_163218_608935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OpenAI Agents SDK vs 坐山客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94360"/>
            <a:ext cx="22860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914400"/>
            <a:ext cx="5303520" cy="548640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1143000"/>
            <a:ext cx="594360" cy="5943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188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Microsoft YaHei"/>
              </a:defRPr>
            </a:pPr>
            <a:r>
              <a:t>OpenAI Agents 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✅ Agent Loop 自动处理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✅ Handoffs 多Agent交接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✅ Guardrails 安全护栏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✅ Sandbox Agent 隔离沙箱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✅ Tracing→评估→微调闭环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✅ Realtime Voice 语音Agent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❌ 仅OpenAI模型，数据在云端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0" y="3200400"/>
            <a:ext cx="1097280" cy="10972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914400"/>
            <a:ext cx="5303520" cy="548640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00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0" y="1143000"/>
            <a:ext cx="594360" cy="594360"/>
          </a:xfrm>
          <a:prstGeom prst="ellipse">
            <a:avLst/>
          </a:prstGeom>
          <a:solidFill>
            <a:srgbClr val="00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188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8C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✅ Agent Loop + 动态协作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✅ Supervisor/Worker 模式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❌ 无显式Guardrails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❌ 代码执行无隔离沙箱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✅ Action Map + Thinking Map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❌ 无语音能力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✅ 模型无关，数据完全本地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20260529_163218_608935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Anthropic（Claude）&amp; Google（Gemini）vs 坐山客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94360"/>
            <a:ext cx="22860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al_6ca3b1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347472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2651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▲ Anthropic 官网首页截图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017520"/>
            <a:ext cx="3474720" cy="365760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324612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Microsoft YaHei"/>
              </a:defRPr>
            </a:pPr>
            <a:r>
              <a:t>Anthropic Claude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✅ Computer Use 操控电脑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✅ Evaluator-Optimizer 模式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✅ MCP协议发明者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✅ 顶级模型+长上下文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❌ 仅Claude模型，数据云端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3017520"/>
            <a:ext cx="3474720" cy="365760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89120" y="3246120"/>
            <a:ext cx="594360" cy="594360"/>
          </a:xfrm>
          <a:prstGeom prst="ellipse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FFF"/>
                </a:solidFill>
                <a:latin typeface="Microsoft YaHei"/>
              </a:defRPr>
            </a:pPr>
            <a:r>
              <a:t>Google Gemini + ADK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9319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✅ 原生多模态（图/视频/音频）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✅ A2A Agent通信协议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✅ Project Mariner 浏览器操控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✅ ADK开源框架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❌ 仅Gemini模型，数据云端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3017520"/>
            <a:ext cx="3474720" cy="365760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00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9" y="3246120"/>
            <a:ext cx="594360" cy="594360"/>
          </a:xfrm>
          <a:prstGeom prst="ellipse">
            <a:avLst/>
          </a:prstGeom>
          <a:solidFill>
            <a:srgbClr val="00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8C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39319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❌ 无Computer Use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❌ 无Evaluator-Optimizer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❌ 不支持MCP/A2A协议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✅ 模型无关，自由切换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✅ 完全本地私有+三层记忆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20260529_163218_608935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核心差距总览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94360"/>
            <a:ext cx="22860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822960"/>
          <a:ext cx="91440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能力维度</a:t>
                      </a:r>
                    </a:p>
                  </a:txBody>
                  <a:tcPr anchor="ctr">
                    <a:solidFill>
                      <a:srgbClr val="00B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OpenAI</a:t>
                      </a:r>
                    </a:p>
                  </a:txBody>
                  <a:tcPr anchor="ctr">
                    <a:solidFill>
                      <a:srgbClr val="00B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Anthropic</a:t>
                      </a:r>
                    </a:p>
                  </a:txBody>
                  <a:tcPr anchor="ctr">
                    <a:solidFill>
                      <a:srgbClr val="00B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Google</a:t>
                      </a:r>
                    </a:p>
                  </a:txBody>
                  <a:tcPr anchor="ctr">
                    <a:solidFill>
                      <a:srgbClr val="00B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坐山客</a:t>
                      </a:r>
                    </a:p>
                  </a:txBody>
                  <a:tcPr anchor="ctr">
                    <a:solidFill>
                      <a:srgbClr val="00BBDD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Agent Loop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多Agent协作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Handoffs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Orchestrator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ADK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Supervisor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沙箱执行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Sandbox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Guardrails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Computer Use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Mariner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语音Agent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Realtime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MCP协议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发明者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A2A协议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发明者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Tracing闭环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⚠️ 部分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多模态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原生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⚠️ 依赖模型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三层记忆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Thinking Map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Action Map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浏览器拨测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完全私有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20260529_163218_608935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坐山客的独特优势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2651760" cy="256032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00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097280"/>
            <a:ext cx="502920" cy="502920"/>
          </a:xfrm>
          <a:prstGeom prst="ellipse">
            <a:avLst/>
          </a:prstGeom>
          <a:solidFill>
            <a:srgbClr val="00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143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C"/>
                </a:solidFill>
                <a:latin typeface="Microsoft YaHei"/>
              </a:defRPr>
            </a:pPr>
            <a:r>
              <a:t>三层记忆体系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Identity + 长期记忆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+ 上下文记忆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支持增删改查强化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914400"/>
            <a:ext cx="2651760" cy="256032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20440" y="1097280"/>
            <a:ext cx="502920" cy="502920"/>
          </a:xfrm>
          <a:prstGeom prst="ellipse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🗺️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143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FFF"/>
                </a:solidFill>
                <a:latin typeface="Microsoft YaHei"/>
              </a:defRPr>
            </a:pPr>
            <a:r>
              <a:t>Thinking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发散收敛思维导图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项目规划专用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自动生成优先级队列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914400"/>
            <a:ext cx="2651760" cy="256032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097280"/>
            <a:ext cx="502920" cy="50292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143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Microsoft YaHei"/>
              </a:defRPr>
            </a:pPr>
            <a:r>
              <a:t>Action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架构自省可视化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进度追踪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系统状态一目了然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914400"/>
            <a:ext cx="2651760" cy="256032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B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81160" y="1097280"/>
            <a:ext cx="502920" cy="502920"/>
          </a:xfrm>
          <a:prstGeom prst="ellipse">
            <a:avLst/>
          </a:prstGeom>
          <a:solidFill>
            <a:srgbClr val="BF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143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5AFF"/>
                </a:solidFill>
                <a:latin typeface="Microsoft YaHei"/>
              </a:defRPr>
            </a:pPr>
            <a:r>
              <a:t>浏览器拨测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DOM/CSS/Console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Network全量验证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非简单网页浏览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749039"/>
            <a:ext cx="2651760" cy="256032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3931919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9776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Microsoft YaHei"/>
              </a:defRPr>
            </a:pPr>
            <a:r>
              <a:t>原生工具链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71999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代码执行/系统操作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搜索/文件/翻译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深度集成非插件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3749039"/>
            <a:ext cx="2651760" cy="256032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00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20440" y="3931919"/>
            <a:ext cx="502920" cy="502920"/>
          </a:xfrm>
          <a:prstGeom prst="ellipse">
            <a:avLst/>
          </a:prstGeom>
          <a:solidFill>
            <a:srgbClr val="00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39776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C"/>
                </a:solidFill>
                <a:latin typeface="Microsoft YaHei"/>
              </a:defRPr>
            </a:pPr>
            <a:r>
              <a:t>场景化路由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571999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按场景隔离上下文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多任务并行不串扰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工具按需加载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749039"/>
            <a:ext cx="2651760" cy="256032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0800" y="3931919"/>
            <a:ext cx="502920" cy="502920"/>
          </a:xfrm>
          <a:prstGeom prst="ellipse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9776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FFF"/>
                </a:solidFill>
                <a:latin typeface="Microsoft YaHei"/>
              </a:defRPr>
            </a:pPr>
            <a:r>
              <a:t>完全私有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571999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数据不出本地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无商业绑架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无计费无限流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3749039"/>
            <a:ext cx="2651760" cy="2560320"/>
          </a:xfrm>
          <a:prstGeom prst="roundRect">
            <a:avLst/>
          </a:prstGeom>
          <a:solidFill>
            <a:srgbClr val="121E3A">
              <a:alpha val="E6"/>
            </a:srgbClr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281160" y="3931919"/>
            <a:ext cx="502920" cy="50292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39776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Microsoft YaHei"/>
              </a:defRPr>
            </a:pPr>
            <a:r>
              <a:t>模型无关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4571999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不绑定任何模型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自由切换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想换就换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CC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20260529_163218_608935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CC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73152" cy="4114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最终结论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103120"/>
            <a:ext cx="27432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✦ 国内平台强在「平台化」—— 零门槛搭建、插件生态、企业级服务，但数据在云端，受限于平台边界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✦ 国际巨头强在「基础设施」—— 沙箱、安全、语音、协议、多模态、顶级模型，但绑定自家生态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✦ 坐山客强在「个人深度」—— 三层记忆、思维工具、自省能力、场景隔离、完全私有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✦ 三巨头做的是平台，服务成千上万的开发者在其上构建 Agent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✦ 坐山客做的是伙伴，深度服务于一个人的工作流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5760720"/>
            <a:ext cx="45720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43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D700"/>
                </a:solidFill>
                <a:latin typeface="Microsoft YaHei"/>
              </a:defRPr>
            </a:pPr>
            <a:r>
              <a:t>差距是真实的，但定位也是不同的。坐山客不需要跟 OpenAI 比沙箱——它需要的是把「个人 AI 伙伴」做到极致。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
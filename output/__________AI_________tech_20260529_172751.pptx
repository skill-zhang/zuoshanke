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>
              <a:alpha val="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" cy="411480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坐山客 vs 国内外AI平台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00D4E8"/>
                </a:solidFill>
                <a:latin typeface="Microsoft YaHei"/>
              </a:defRPr>
            </a:pPr>
            <a:r>
              <a:t>AI Agent 领域深度对比分析报告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840480"/>
            <a:ext cx="3200400" cy="508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6217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899AA"/>
                </a:solidFill>
                <a:latin typeface="Microsoft YaHei"/>
              </a:defRPr>
            </a:pPr>
            <a:r>
              <a:t>2026年05月  |  坐山客研究团队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>
              <a:alpha val="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09728" cy="109728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0D4E8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国内 AI Agent 平台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114800"/>
            <a:ext cx="3200400" cy="381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Coze（扣子）vs 坐山客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"/>
            <a:ext cx="2286000" cy="381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731520"/>
            <a:ext cx="5303520" cy="5852160"/>
          </a:xfrm>
          <a:prstGeom prst="roundRect">
            <a:avLst/>
          </a:prstGeom>
          <a:solidFill>
            <a:srgbClr val="14203C"/>
          </a:solidFill>
          <a:ln w="25400">
            <a:solidFill>
              <a:srgbClr val="309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914400"/>
            <a:ext cx="548640" cy="548640"/>
          </a:xfrm>
          <a:prstGeom prst="ellipse">
            <a:avLst/>
          </a:prstGeom>
          <a:solidFill>
            <a:srgbClr val="309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9601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090F0"/>
                </a:solidFill>
                <a:latin typeface="Microsoft YaHe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0" y="731520"/>
            <a:ext cx="5303520" cy="5852160"/>
          </a:xfrm>
          <a:prstGeom prst="roundRect">
            <a:avLst/>
          </a:prstGeom>
          <a:solidFill>
            <a:srgbClr val="14203C"/>
          </a:solidFill>
          <a:ln w="2540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29400" y="914400"/>
            <a:ext cx="548640" cy="548640"/>
          </a:xfrm>
          <a:prstGeom prst="ellipse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9601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07A"/>
                </a:solidFill>
                <a:latin typeface="Microsoft YaHe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675120" y="155448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阿里百炼 vs 坐山客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"/>
            <a:ext cx="2286000" cy="381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731520"/>
            <a:ext cx="5303520" cy="5852160"/>
          </a:xfrm>
          <a:prstGeom prst="roundRect">
            <a:avLst/>
          </a:prstGeom>
          <a:solidFill>
            <a:srgbClr val="14203C"/>
          </a:solidFill>
          <a:ln w="25400">
            <a:solidFill>
              <a:srgbClr val="309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914400"/>
            <a:ext cx="548640" cy="548640"/>
          </a:xfrm>
          <a:prstGeom prst="ellipse">
            <a:avLst/>
          </a:prstGeom>
          <a:solidFill>
            <a:srgbClr val="309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9601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090F0"/>
                </a:solidFill>
                <a:latin typeface="Microsoft YaHe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0" y="731520"/>
            <a:ext cx="5303520" cy="5852160"/>
          </a:xfrm>
          <a:prstGeom prst="roundRect">
            <a:avLst/>
          </a:prstGeom>
          <a:solidFill>
            <a:srgbClr val="14203C"/>
          </a:solidFill>
          <a:ln w="2540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29400" y="914400"/>
            <a:ext cx="548640" cy="548640"/>
          </a:xfrm>
          <a:prstGeom prst="ellipse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9601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07A"/>
                </a:solidFill>
                <a:latin typeface="Microsoft YaHe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675120" y="155448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OpenClaw vs 坐山客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"/>
            <a:ext cx="2286000" cy="381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731520"/>
            <a:ext cx="5303520" cy="5852160"/>
          </a:xfrm>
          <a:prstGeom prst="roundRect">
            <a:avLst/>
          </a:prstGeom>
          <a:solidFill>
            <a:srgbClr val="14203C"/>
          </a:solidFill>
          <a:ln w="25400">
            <a:solidFill>
              <a:srgbClr val="309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914400"/>
            <a:ext cx="548640" cy="548640"/>
          </a:xfrm>
          <a:prstGeom prst="ellipse">
            <a:avLst/>
          </a:prstGeom>
          <a:solidFill>
            <a:srgbClr val="309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9601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090F0"/>
                </a:solidFill>
                <a:latin typeface="Microsoft YaHe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0" y="731520"/>
            <a:ext cx="5303520" cy="5852160"/>
          </a:xfrm>
          <a:prstGeom prst="roundRect">
            <a:avLst/>
          </a:prstGeom>
          <a:solidFill>
            <a:srgbClr val="14203C"/>
          </a:solidFill>
          <a:ln w="2540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29400" y="914400"/>
            <a:ext cx="548640" cy="548640"/>
          </a:xfrm>
          <a:prstGeom prst="ellipse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9601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07A"/>
                </a:solidFill>
                <a:latin typeface="Microsoft YaHe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675120" y="155448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>
              <a:alpha val="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09728" cy="109728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0D4E8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国际 AI Agent 巨头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114800"/>
            <a:ext cx="3200400" cy="381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OpenAI Agents SDK vs 坐山客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"/>
            <a:ext cx="2286000" cy="381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731520"/>
            <a:ext cx="5303520" cy="5852160"/>
          </a:xfrm>
          <a:prstGeom prst="roundRect">
            <a:avLst/>
          </a:prstGeom>
          <a:solidFill>
            <a:srgbClr val="14203C"/>
          </a:solidFill>
          <a:ln w="25400">
            <a:solidFill>
              <a:srgbClr val="309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914400"/>
            <a:ext cx="548640" cy="548640"/>
          </a:xfrm>
          <a:prstGeom prst="ellipse">
            <a:avLst/>
          </a:prstGeom>
          <a:solidFill>
            <a:srgbClr val="309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9601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090F0"/>
                </a:solidFill>
                <a:latin typeface="Microsoft YaHe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0" y="731520"/>
            <a:ext cx="5303520" cy="5852160"/>
          </a:xfrm>
          <a:prstGeom prst="roundRect">
            <a:avLst/>
          </a:prstGeom>
          <a:solidFill>
            <a:srgbClr val="14203C"/>
          </a:solidFill>
          <a:ln w="2540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29400" y="914400"/>
            <a:ext cx="548640" cy="548640"/>
          </a:xfrm>
          <a:prstGeom prst="ellipse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9601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07A"/>
                </a:solidFill>
                <a:latin typeface="Microsoft YaHe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675120" y="155448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Anthropic &amp; Google vs 坐山客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"/>
            <a:ext cx="2286000" cy="381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核心能力差距总览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"/>
            <a:ext cx="2286000" cy="381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坐山客的独特优势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"/>
            <a:ext cx="2286000" cy="381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1148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最终结论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103120"/>
            <a:ext cx="2743200" cy="381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9" name="Rectangle 8"/>
          <p:cNvSpPr/>
          <p:nvPr/>
        </p:nvSpPr>
        <p:spPr>
          <a:xfrm>
            <a:off x="1097280" y="5760720"/>
            <a:ext cx="4572000" cy="254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